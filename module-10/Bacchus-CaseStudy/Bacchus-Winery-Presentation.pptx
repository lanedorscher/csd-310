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3" r:id="rId4"/>
  </p:sldMasterIdLst>
  <p:notesMasterIdLst>
    <p:notesMasterId r:id="rId17"/>
  </p:notesMasterIdLst>
  <p:handoutMasterIdLst>
    <p:handoutMasterId r:id="rId18"/>
  </p:handoutMasterIdLst>
  <p:sldIdLst>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81662" autoAdjust="0"/>
  </p:normalViewPr>
  <p:slideViewPr>
    <p:cSldViewPr showGuides="1">
      <p:cViewPr>
        <p:scale>
          <a:sx n="100" d="100"/>
          <a:sy n="100" d="100"/>
        </p:scale>
        <p:origin x="437" y="58"/>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DBAB30-C42F-46C8-84A4-12F99F90002D}"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B9400E9D-D8A9-447D-9359-BFCFD44C20EE}">
      <dgm:prSet/>
      <dgm:spPr/>
      <dgm:t>
        <a:bodyPr/>
        <a:lstStyle/>
        <a:p>
          <a:r>
            <a:rPr lang="en-US" b="0" i="0"/>
            <a:t>Bacchus Winery may add additional suppliers or distributors in the future.</a:t>
          </a:r>
          <a:endParaRPr lang="en-US"/>
        </a:p>
      </dgm:t>
    </dgm:pt>
    <dgm:pt modelId="{C0BF831A-4EE1-447F-BE3E-1BE621DE017B}" type="parTrans" cxnId="{79FE535F-6CF6-4CDE-A9F6-4B983AE7DD24}">
      <dgm:prSet/>
      <dgm:spPr/>
      <dgm:t>
        <a:bodyPr/>
        <a:lstStyle/>
        <a:p>
          <a:endParaRPr lang="en-US"/>
        </a:p>
      </dgm:t>
    </dgm:pt>
    <dgm:pt modelId="{4AAA4031-5A0E-4067-93B6-72D28F9EED42}" type="sibTrans" cxnId="{79FE535F-6CF6-4CDE-A9F6-4B983AE7DD24}">
      <dgm:prSet/>
      <dgm:spPr/>
      <dgm:t>
        <a:bodyPr/>
        <a:lstStyle/>
        <a:p>
          <a:endParaRPr lang="en-US"/>
        </a:p>
      </dgm:t>
    </dgm:pt>
    <dgm:pt modelId="{87795A8A-2130-4180-8D21-07356A2DC354}">
      <dgm:prSet/>
      <dgm:spPr/>
      <dgm:t>
        <a:bodyPr/>
        <a:lstStyle/>
        <a:p>
          <a:r>
            <a:rPr lang="en-US" b="0" i="0"/>
            <a:t>An item may eventually be available from more than one supplier.</a:t>
          </a:r>
          <a:endParaRPr lang="en-US"/>
        </a:p>
      </dgm:t>
    </dgm:pt>
    <dgm:pt modelId="{2FD4B9B1-8B81-435F-92DC-E6FC0D649968}" type="parTrans" cxnId="{AF0EB1CE-76E3-4615-B05D-B170437FACD7}">
      <dgm:prSet/>
      <dgm:spPr/>
      <dgm:t>
        <a:bodyPr/>
        <a:lstStyle/>
        <a:p>
          <a:endParaRPr lang="en-US"/>
        </a:p>
      </dgm:t>
    </dgm:pt>
    <dgm:pt modelId="{CF9DBF96-DF89-4228-B598-441E4B3E8F12}" type="sibTrans" cxnId="{AF0EB1CE-76E3-4615-B05D-B170437FACD7}">
      <dgm:prSet/>
      <dgm:spPr/>
      <dgm:t>
        <a:bodyPr/>
        <a:lstStyle/>
        <a:p>
          <a:endParaRPr lang="en-US"/>
        </a:p>
      </dgm:t>
    </dgm:pt>
    <dgm:pt modelId="{80507317-6113-46AD-AB64-6C96A2CF8F32}">
      <dgm:prSet/>
      <dgm:spPr/>
      <dgm:t>
        <a:bodyPr/>
        <a:lstStyle/>
        <a:p>
          <a:r>
            <a:rPr lang="en-US" b="0" i="0"/>
            <a:t>Wines and supplies share enough common attributes to be represented in the ITEM table.</a:t>
          </a:r>
          <a:endParaRPr lang="en-US"/>
        </a:p>
      </dgm:t>
    </dgm:pt>
    <dgm:pt modelId="{D4DD347B-1B66-49CC-8170-23FEBABB1A2D}" type="parTrans" cxnId="{86B39D5B-9799-4125-A792-F4178ED9EFF5}">
      <dgm:prSet/>
      <dgm:spPr/>
      <dgm:t>
        <a:bodyPr/>
        <a:lstStyle/>
        <a:p>
          <a:endParaRPr lang="en-US"/>
        </a:p>
      </dgm:t>
    </dgm:pt>
    <dgm:pt modelId="{2A8ADEE3-4D09-4C28-B229-FAD1BF88A31C}" type="sibTrans" cxnId="{86B39D5B-9799-4125-A792-F4178ED9EFF5}">
      <dgm:prSet/>
      <dgm:spPr/>
      <dgm:t>
        <a:bodyPr/>
        <a:lstStyle/>
        <a:p>
          <a:endParaRPr lang="en-US"/>
        </a:p>
      </dgm:t>
    </dgm:pt>
    <dgm:pt modelId="{7F4D775B-7502-44EE-87FC-053BD72E753F}">
      <dgm:prSet/>
      <dgm:spPr/>
      <dgm:t>
        <a:bodyPr/>
        <a:lstStyle/>
        <a:p>
          <a:r>
            <a:rPr lang="en-US" b="0" i="0"/>
            <a:t>CATEGORY identifies whether an item is a SUPPLY or PRODUCT.</a:t>
          </a:r>
          <a:endParaRPr lang="en-US"/>
        </a:p>
      </dgm:t>
    </dgm:pt>
    <dgm:pt modelId="{B6433145-F0B0-4D11-BC8F-7B5F1F325AF0}" type="parTrans" cxnId="{767AA696-C81C-4E2B-AD1F-D4CA2B88C0A1}">
      <dgm:prSet/>
      <dgm:spPr/>
      <dgm:t>
        <a:bodyPr/>
        <a:lstStyle/>
        <a:p>
          <a:endParaRPr lang="en-US"/>
        </a:p>
      </dgm:t>
    </dgm:pt>
    <dgm:pt modelId="{AFFCCFCD-1D6C-49C5-B279-8DE0B3032752}" type="sibTrans" cxnId="{767AA696-C81C-4E2B-AD1F-D4CA2B88C0A1}">
      <dgm:prSet/>
      <dgm:spPr/>
      <dgm:t>
        <a:bodyPr/>
        <a:lstStyle/>
        <a:p>
          <a:endParaRPr lang="en-US"/>
        </a:p>
      </dgm:t>
    </dgm:pt>
    <dgm:pt modelId="{075883A5-823D-43E2-AF59-D82CC0342693}">
      <dgm:prSet/>
      <dgm:spPr/>
      <dgm:t>
        <a:bodyPr/>
        <a:lstStyle/>
        <a:p>
          <a:r>
            <a:rPr lang="en-US" b="0" i="0"/>
            <a:t>Reorder levels apply to supplies used in winery operations.</a:t>
          </a:r>
          <a:endParaRPr lang="en-US"/>
        </a:p>
      </dgm:t>
    </dgm:pt>
    <dgm:pt modelId="{EF99D9CB-76BF-4342-914F-41F87DCD55DE}" type="parTrans" cxnId="{BA0DDE23-405C-4E21-A595-C05056D0E153}">
      <dgm:prSet/>
      <dgm:spPr/>
      <dgm:t>
        <a:bodyPr/>
        <a:lstStyle/>
        <a:p>
          <a:endParaRPr lang="en-US"/>
        </a:p>
      </dgm:t>
    </dgm:pt>
    <dgm:pt modelId="{55453DB0-0E82-4AEC-A569-AB3F19E6D3EF}" type="sibTrans" cxnId="{BA0DDE23-405C-4E21-A595-C05056D0E153}">
      <dgm:prSet/>
      <dgm:spPr/>
      <dgm:t>
        <a:bodyPr/>
        <a:lstStyle/>
        <a:p>
          <a:endParaRPr lang="en-US"/>
        </a:p>
      </dgm:t>
    </dgm:pt>
    <dgm:pt modelId="{821600F2-25A0-48A5-921C-9B7847CBBC9D}">
      <dgm:prSet/>
      <dgm:spPr/>
      <dgm:t>
        <a:bodyPr/>
        <a:lstStyle/>
        <a:p>
          <a:r>
            <a:rPr lang="en-US" b="0" i="0" dirty="0"/>
            <a:t>Sales performance is based on actual units sold because the case study did not provide expected sales targets.</a:t>
          </a:r>
          <a:endParaRPr lang="en-US" dirty="0"/>
        </a:p>
      </dgm:t>
    </dgm:pt>
    <dgm:pt modelId="{713E4100-86AF-44D4-9E0B-2BB228B024E2}" type="parTrans" cxnId="{04DB6BE4-B774-4E73-9870-C08240777AD8}">
      <dgm:prSet/>
      <dgm:spPr/>
      <dgm:t>
        <a:bodyPr/>
        <a:lstStyle/>
        <a:p>
          <a:endParaRPr lang="en-US"/>
        </a:p>
      </dgm:t>
    </dgm:pt>
    <dgm:pt modelId="{6538B83D-F31F-404F-AB30-3B9549E219D1}" type="sibTrans" cxnId="{04DB6BE4-B774-4E73-9870-C08240777AD8}">
      <dgm:prSet/>
      <dgm:spPr/>
      <dgm:t>
        <a:bodyPr/>
        <a:lstStyle/>
        <a:p>
          <a:endParaRPr lang="en-US"/>
        </a:p>
      </dgm:t>
    </dgm:pt>
    <dgm:pt modelId="{1D2379F2-FD01-41E2-8344-7E24F4FC2CC8}" type="pres">
      <dgm:prSet presAssocID="{0FDBAB30-C42F-46C8-84A4-12F99F90002D}" presName="root" presStyleCnt="0">
        <dgm:presLayoutVars>
          <dgm:dir/>
          <dgm:resizeHandles val="exact"/>
        </dgm:presLayoutVars>
      </dgm:prSet>
      <dgm:spPr/>
    </dgm:pt>
    <dgm:pt modelId="{94D42ECA-E510-48E0-8FBB-7C0320243B1F}" type="pres">
      <dgm:prSet presAssocID="{B9400E9D-D8A9-447D-9359-BFCFD44C20EE}" presName="compNode" presStyleCnt="0"/>
      <dgm:spPr/>
    </dgm:pt>
    <dgm:pt modelId="{B4328536-8610-48D9-8A06-B415A94658D9}" type="pres">
      <dgm:prSet presAssocID="{B9400E9D-D8A9-447D-9359-BFCFD44C20EE}"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arm scene"/>
        </a:ext>
      </dgm:extLst>
    </dgm:pt>
    <dgm:pt modelId="{FB8F94DC-6F02-4E9C-9A29-FC9A3B2B7605}" type="pres">
      <dgm:prSet presAssocID="{B9400E9D-D8A9-447D-9359-BFCFD44C20EE}" presName="spaceRect" presStyleCnt="0"/>
      <dgm:spPr/>
    </dgm:pt>
    <dgm:pt modelId="{DC8B8558-FD87-4F17-9BD5-83C19E6F20BA}" type="pres">
      <dgm:prSet presAssocID="{B9400E9D-D8A9-447D-9359-BFCFD44C20EE}" presName="textRect" presStyleLbl="revTx" presStyleIdx="0" presStyleCnt="6">
        <dgm:presLayoutVars>
          <dgm:chMax val="1"/>
          <dgm:chPref val="1"/>
        </dgm:presLayoutVars>
      </dgm:prSet>
      <dgm:spPr/>
    </dgm:pt>
    <dgm:pt modelId="{5337B2FB-EF16-422E-B3E1-155E63C55D1E}" type="pres">
      <dgm:prSet presAssocID="{4AAA4031-5A0E-4067-93B6-72D28F9EED42}" presName="sibTrans" presStyleCnt="0"/>
      <dgm:spPr/>
    </dgm:pt>
    <dgm:pt modelId="{9266278E-3E2C-4703-B6C8-0A0E726C4897}" type="pres">
      <dgm:prSet presAssocID="{87795A8A-2130-4180-8D21-07356A2DC354}" presName="compNode" presStyleCnt="0"/>
      <dgm:spPr/>
    </dgm:pt>
    <dgm:pt modelId="{8FFE22EE-272C-454C-9E35-8F262E095E0D}" type="pres">
      <dgm:prSet presAssocID="{87795A8A-2130-4180-8D21-07356A2DC35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7F010F8C-C25A-44AA-AFB4-68CFC8583B1F}" type="pres">
      <dgm:prSet presAssocID="{87795A8A-2130-4180-8D21-07356A2DC354}" presName="spaceRect" presStyleCnt="0"/>
      <dgm:spPr/>
    </dgm:pt>
    <dgm:pt modelId="{A6F2A548-1EAE-4CAB-B228-C1D10738517C}" type="pres">
      <dgm:prSet presAssocID="{87795A8A-2130-4180-8D21-07356A2DC354}" presName="textRect" presStyleLbl="revTx" presStyleIdx="1" presStyleCnt="6">
        <dgm:presLayoutVars>
          <dgm:chMax val="1"/>
          <dgm:chPref val="1"/>
        </dgm:presLayoutVars>
      </dgm:prSet>
      <dgm:spPr/>
    </dgm:pt>
    <dgm:pt modelId="{59589509-102F-430C-82E7-4ED312708B96}" type="pres">
      <dgm:prSet presAssocID="{CF9DBF96-DF89-4228-B598-441E4B3E8F12}" presName="sibTrans" presStyleCnt="0"/>
      <dgm:spPr/>
    </dgm:pt>
    <dgm:pt modelId="{A29EDB0B-7757-44E2-8CEB-8D6EC1EB4645}" type="pres">
      <dgm:prSet presAssocID="{80507317-6113-46AD-AB64-6C96A2CF8F32}" presName="compNode" presStyleCnt="0"/>
      <dgm:spPr/>
    </dgm:pt>
    <dgm:pt modelId="{265149B5-E8E7-47DB-8F65-A374CE513225}" type="pres">
      <dgm:prSet presAssocID="{80507317-6113-46AD-AB64-6C96A2CF8F32}"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rapes"/>
        </a:ext>
      </dgm:extLst>
    </dgm:pt>
    <dgm:pt modelId="{075C11D2-30A7-4E23-ABD4-0D831095AEA5}" type="pres">
      <dgm:prSet presAssocID="{80507317-6113-46AD-AB64-6C96A2CF8F32}" presName="spaceRect" presStyleCnt="0"/>
      <dgm:spPr/>
    </dgm:pt>
    <dgm:pt modelId="{987F8B8B-91E6-44C8-AFFD-F1C778835DFF}" type="pres">
      <dgm:prSet presAssocID="{80507317-6113-46AD-AB64-6C96A2CF8F32}" presName="textRect" presStyleLbl="revTx" presStyleIdx="2" presStyleCnt="6">
        <dgm:presLayoutVars>
          <dgm:chMax val="1"/>
          <dgm:chPref val="1"/>
        </dgm:presLayoutVars>
      </dgm:prSet>
      <dgm:spPr/>
    </dgm:pt>
    <dgm:pt modelId="{674C0B7B-5BE7-482D-AEAC-B629E96E2068}" type="pres">
      <dgm:prSet presAssocID="{2A8ADEE3-4D09-4C28-B229-FAD1BF88A31C}" presName="sibTrans" presStyleCnt="0"/>
      <dgm:spPr/>
    </dgm:pt>
    <dgm:pt modelId="{187BFAA4-F6FF-4C15-A8CB-DF0DFE272117}" type="pres">
      <dgm:prSet presAssocID="{7F4D775B-7502-44EE-87FC-053BD72E753F}" presName="compNode" presStyleCnt="0"/>
      <dgm:spPr/>
    </dgm:pt>
    <dgm:pt modelId="{DF0034CC-2ABF-4DC2-9954-8ADBC874D20F}" type="pres">
      <dgm:prSet presAssocID="{7F4D775B-7502-44EE-87FC-053BD72E753F}"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code"/>
        </a:ext>
      </dgm:extLst>
    </dgm:pt>
    <dgm:pt modelId="{549D3195-9607-4B8B-8349-E8D4B554F755}" type="pres">
      <dgm:prSet presAssocID="{7F4D775B-7502-44EE-87FC-053BD72E753F}" presName="spaceRect" presStyleCnt="0"/>
      <dgm:spPr/>
    </dgm:pt>
    <dgm:pt modelId="{5D5ED65A-0315-405C-A2DD-6C0377077D1D}" type="pres">
      <dgm:prSet presAssocID="{7F4D775B-7502-44EE-87FC-053BD72E753F}" presName="textRect" presStyleLbl="revTx" presStyleIdx="3" presStyleCnt="6">
        <dgm:presLayoutVars>
          <dgm:chMax val="1"/>
          <dgm:chPref val="1"/>
        </dgm:presLayoutVars>
      </dgm:prSet>
      <dgm:spPr/>
    </dgm:pt>
    <dgm:pt modelId="{A9FC943C-83E9-4FD1-84B8-A90243E40450}" type="pres">
      <dgm:prSet presAssocID="{AFFCCFCD-1D6C-49C5-B279-8DE0B3032752}" presName="sibTrans" presStyleCnt="0"/>
      <dgm:spPr/>
    </dgm:pt>
    <dgm:pt modelId="{CE969A80-0769-4A45-95BB-C3387BAF3513}" type="pres">
      <dgm:prSet presAssocID="{075883A5-823D-43E2-AF59-D82CC0342693}" presName="compNode" presStyleCnt="0"/>
      <dgm:spPr/>
    </dgm:pt>
    <dgm:pt modelId="{74329C99-ABD3-4701-8FDB-61CC9232FAF7}" type="pres">
      <dgm:prSet presAssocID="{075883A5-823D-43E2-AF59-D82CC0342693}"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ractor"/>
        </a:ext>
      </dgm:extLst>
    </dgm:pt>
    <dgm:pt modelId="{71051184-5628-4EA9-B6E9-E59740D05947}" type="pres">
      <dgm:prSet presAssocID="{075883A5-823D-43E2-AF59-D82CC0342693}" presName="spaceRect" presStyleCnt="0"/>
      <dgm:spPr/>
    </dgm:pt>
    <dgm:pt modelId="{2C1D8E12-2DF4-4D97-BEDB-AB5ADD2264E3}" type="pres">
      <dgm:prSet presAssocID="{075883A5-823D-43E2-AF59-D82CC0342693}" presName="textRect" presStyleLbl="revTx" presStyleIdx="4" presStyleCnt="6">
        <dgm:presLayoutVars>
          <dgm:chMax val="1"/>
          <dgm:chPref val="1"/>
        </dgm:presLayoutVars>
      </dgm:prSet>
      <dgm:spPr/>
    </dgm:pt>
    <dgm:pt modelId="{B08D0100-39AD-4488-A865-07150DB8609D}" type="pres">
      <dgm:prSet presAssocID="{55453DB0-0E82-4AEC-A569-AB3F19E6D3EF}" presName="sibTrans" presStyleCnt="0"/>
      <dgm:spPr/>
    </dgm:pt>
    <dgm:pt modelId="{9FD68C6B-3A44-4BC8-80FE-E362CEE57548}" type="pres">
      <dgm:prSet presAssocID="{821600F2-25A0-48A5-921C-9B7847CBBC9D}" presName="compNode" presStyleCnt="0"/>
      <dgm:spPr/>
    </dgm:pt>
    <dgm:pt modelId="{94D057EB-02C5-4E06-A3C0-DCA1DB83E5DE}" type="pres">
      <dgm:prSet presAssocID="{821600F2-25A0-48A5-921C-9B7847CBBC9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Graph with Upward Trend"/>
        </a:ext>
      </dgm:extLst>
    </dgm:pt>
    <dgm:pt modelId="{F25A4C79-3BFC-4DE9-BEB5-1222CDABA8A4}" type="pres">
      <dgm:prSet presAssocID="{821600F2-25A0-48A5-921C-9B7847CBBC9D}" presName="spaceRect" presStyleCnt="0"/>
      <dgm:spPr/>
    </dgm:pt>
    <dgm:pt modelId="{C7F1C88C-B570-49D9-B030-489314E56CA0}" type="pres">
      <dgm:prSet presAssocID="{821600F2-25A0-48A5-921C-9B7847CBBC9D}" presName="textRect" presStyleLbl="revTx" presStyleIdx="5" presStyleCnt="6">
        <dgm:presLayoutVars>
          <dgm:chMax val="1"/>
          <dgm:chPref val="1"/>
        </dgm:presLayoutVars>
      </dgm:prSet>
      <dgm:spPr/>
    </dgm:pt>
  </dgm:ptLst>
  <dgm:cxnLst>
    <dgm:cxn modelId="{8C7B3B0E-1ACA-4FB7-B6AB-60D4B330A7E8}" type="presOf" srcId="{0FDBAB30-C42F-46C8-84A4-12F99F90002D}" destId="{1D2379F2-FD01-41E2-8344-7E24F4FC2CC8}" srcOrd="0" destOrd="0" presId="urn:microsoft.com/office/officeart/2018/2/layout/IconLabelList"/>
    <dgm:cxn modelId="{BA0DDE23-405C-4E21-A595-C05056D0E153}" srcId="{0FDBAB30-C42F-46C8-84A4-12F99F90002D}" destId="{075883A5-823D-43E2-AF59-D82CC0342693}" srcOrd="4" destOrd="0" parTransId="{EF99D9CB-76BF-4342-914F-41F87DCD55DE}" sibTransId="{55453DB0-0E82-4AEC-A569-AB3F19E6D3EF}"/>
    <dgm:cxn modelId="{3D18563D-67EF-475E-A4FA-378F327C3799}" type="presOf" srcId="{7F4D775B-7502-44EE-87FC-053BD72E753F}" destId="{5D5ED65A-0315-405C-A2DD-6C0377077D1D}" srcOrd="0" destOrd="0" presId="urn:microsoft.com/office/officeart/2018/2/layout/IconLabelList"/>
    <dgm:cxn modelId="{86B39D5B-9799-4125-A792-F4178ED9EFF5}" srcId="{0FDBAB30-C42F-46C8-84A4-12F99F90002D}" destId="{80507317-6113-46AD-AB64-6C96A2CF8F32}" srcOrd="2" destOrd="0" parTransId="{D4DD347B-1B66-49CC-8170-23FEBABB1A2D}" sibTransId="{2A8ADEE3-4D09-4C28-B229-FAD1BF88A31C}"/>
    <dgm:cxn modelId="{79FE535F-6CF6-4CDE-A9F6-4B983AE7DD24}" srcId="{0FDBAB30-C42F-46C8-84A4-12F99F90002D}" destId="{B9400E9D-D8A9-447D-9359-BFCFD44C20EE}" srcOrd="0" destOrd="0" parTransId="{C0BF831A-4EE1-447F-BE3E-1BE621DE017B}" sibTransId="{4AAA4031-5A0E-4067-93B6-72D28F9EED42}"/>
    <dgm:cxn modelId="{28B5DE60-2DC3-47DC-99C7-ECBD5987FABB}" type="presOf" srcId="{075883A5-823D-43E2-AF59-D82CC0342693}" destId="{2C1D8E12-2DF4-4D97-BEDB-AB5ADD2264E3}" srcOrd="0" destOrd="0" presId="urn:microsoft.com/office/officeart/2018/2/layout/IconLabelList"/>
    <dgm:cxn modelId="{D30D5975-9B09-4202-A213-B44CBDC3A483}" type="presOf" srcId="{821600F2-25A0-48A5-921C-9B7847CBBC9D}" destId="{C7F1C88C-B570-49D9-B030-489314E56CA0}" srcOrd="0" destOrd="0" presId="urn:microsoft.com/office/officeart/2018/2/layout/IconLabelList"/>
    <dgm:cxn modelId="{767AA696-C81C-4E2B-AD1F-D4CA2B88C0A1}" srcId="{0FDBAB30-C42F-46C8-84A4-12F99F90002D}" destId="{7F4D775B-7502-44EE-87FC-053BD72E753F}" srcOrd="3" destOrd="0" parTransId="{B6433145-F0B0-4D11-BC8F-7B5F1F325AF0}" sibTransId="{AFFCCFCD-1D6C-49C5-B279-8DE0B3032752}"/>
    <dgm:cxn modelId="{B5ABA5A1-962E-4956-ACD3-3A7C1680846A}" type="presOf" srcId="{80507317-6113-46AD-AB64-6C96A2CF8F32}" destId="{987F8B8B-91E6-44C8-AFFD-F1C778835DFF}" srcOrd="0" destOrd="0" presId="urn:microsoft.com/office/officeart/2018/2/layout/IconLabelList"/>
    <dgm:cxn modelId="{199972CB-9874-4704-B8FE-6D16AD5173A1}" type="presOf" srcId="{87795A8A-2130-4180-8D21-07356A2DC354}" destId="{A6F2A548-1EAE-4CAB-B228-C1D10738517C}" srcOrd="0" destOrd="0" presId="urn:microsoft.com/office/officeart/2018/2/layout/IconLabelList"/>
    <dgm:cxn modelId="{AF0EB1CE-76E3-4615-B05D-B170437FACD7}" srcId="{0FDBAB30-C42F-46C8-84A4-12F99F90002D}" destId="{87795A8A-2130-4180-8D21-07356A2DC354}" srcOrd="1" destOrd="0" parTransId="{2FD4B9B1-8B81-435F-92DC-E6FC0D649968}" sibTransId="{CF9DBF96-DF89-4228-B598-441E4B3E8F12}"/>
    <dgm:cxn modelId="{04DB6BE4-B774-4E73-9870-C08240777AD8}" srcId="{0FDBAB30-C42F-46C8-84A4-12F99F90002D}" destId="{821600F2-25A0-48A5-921C-9B7847CBBC9D}" srcOrd="5" destOrd="0" parTransId="{713E4100-86AF-44D4-9E0B-2BB228B024E2}" sibTransId="{6538B83D-F31F-404F-AB30-3B9549E219D1}"/>
    <dgm:cxn modelId="{048B00EB-0AC1-40F7-8193-88A3BAECF85D}" type="presOf" srcId="{B9400E9D-D8A9-447D-9359-BFCFD44C20EE}" destId="{DC8B8558-FD87-4F17-9BD5-83C19E6F20BA}" srcOrd="0" destOrd="0" presId="urn:microsoft.com/office/officeart/2018/2/layout/IconLabelList"/>
    <dgm:cxn modelId="{F77AE05C-CB79-44A2-8229-C39E6A1AB379}" type="presParOf" srcId="{1D2379F2-FD01-41E2-8344-7E24F4FC2CC8}" destId="{94D42ECA-E510-48E0-8FBB-7C0320243B1F}" srcOrd="0" destOrd="0" presId="urn:microsoft.com/office/officeart/2018/2/layout/IconLabelList"/>
    <dgm:cxn modelId="{60D30237-8DD1-45FE-B0AB-1C209BE235C7}" type="presParOf" srcId="{94D42ECA-E510-48E0-8FBB-7C0320243B1F}" destId="{B4328536-8610-48D9-8A06-B415A94658D9}" srcOrd="0" destOrd="0" presId="urn:microsoft.com/office/officeart/2018/2/layout/IconLabelList"/>
    <dgm:cxn modelId="{AE490C08-A6CC-480B-8D35-BE556214460E}" type="presParOf" srcId="{94D42ECA-E510-48E0-8FBB-7C0320243B1F}" destId="{FB8F94DC-6F02-4E9C-9A29-FC9A3B2B7605}" srcOrd="1" destOrd="0" presId="urn:microsoft.com/office/officeart/2018/2/layout/IconLabelList"/>
    <dgm:cxn modelId="{462041D0-407A-4AEE-9751-7EF4487DF9AD}" type="presParOf" srcId="{94D42ECA-E510-48E0-8FBB-7C0320243B1F}" destId="{DC8B8558-FD87-4F17-9BD5-83C19E6F20BA}" srcOrd="2" destOrd="0" presId="urn:microsoft.com/office/officeart/2018/2/layout/IconLabelList"/>
    <dgm:cxn modelId="{D3332CDC-42DA-43D7-894D-34C0B2939872}" type="presParOf" srcId="{1D2379F2-FD01-41E2-8344-7E24F4FC2CC8}" destId="{5337B2FB-EF16-422E-B3E1-155E63C55D1E}" srcOrd="1" destOrd="0" presId="urn:microsoft.com/office/officeart/2018/2/layout/IconLabelList"/>
    <dgm:cxn modelId="{AA80BA25-76DB-4995-9718-399750224179}" type="presParOf" srcId="{1D2379F2-FD01-41E2-8344-7E24F4FC2CC8}" destId="{9266278E-3E2C-4703-B6C8-0A0E726C4897}" srcOrd="2" destOrd="0" presId="urn:microsoft.com/office/officeart/2018/2/layout/IconLabelList"/>
    <dgm:cxn modelId="{E3BA0766-E406-48CF-A872-8115D89EEE8F}" type="presParOf" srcId="{9266278E-3E2C-4703-B6C8-0A0E726C4897}" destId="{8FFE22EE-272C-454C-9E35-8F262E095E0D}" srcOrd="0" destOrd="0" presId="urn:microsoft.com/office/officeart/2018/2/layout/IconLabelList"/>
    <dgm:cxn modelId="{B182F5A4-4A31-4D65-95E4-188ECFC3A844}" type="presParOf" srcId="{9266278E-3E2C-4703-B6C8-0A0E726C4897}" destId="{7F010F8C-C25A-44AA-AFB4-68CFC8583B1F}" srcOrd="1" destOrd="0" presId="urn:microsoft.com/office/officeart/2018/2/layout/IconLabelList"/>
    <dgm:cxn modelId="{44376658-61FE-4E30-9167-0E3874D53134}" type="presParOf" srcId="{9266278E-3E2C-4703-B6C8-0A0E726C4897}" destId="{A6F2A548-1EAE-4CAB-B228-C1D10738517C}" srcOrd="2" destOrd="0" presId="urn:microsoft.com/office/officeart/2018/2/layout/IconLabelList"/>
    <dgm:cxn modelId="{F8A68837-62CE-4413-B6D2-1B67737DAE9B}" type="presParOf" srcId="{1D2379F2-FD01-41E2-8344-7E24F4FC2CC8}" destId="{59589509-102F-430C-82E7-4ED312708B96}" srcOrd="3" destOrd="0" presId="urn:microsoft.com/office/officeart/2018/2/layout/IconLabelList"/>
    <dgm:cxn modelId="{B212AE67-CDF3-42F6-ACAD-CBCA93112F32}" type="presParOf" srcId="{1D2379F2-FD01-41E2-8344-7E24F4FC2CC8}" destId="{A29EDB0B-7757-44E2-8CEB-8D6EC1EB4645}" srcOrd="4" destOrd="0" presId="urn:microsoft.com/office/officeart/2018/2/layout/IconLabelList"/>
    <dgm:cxn modelId="{05F0148B-F11C-4441-92C6-D72239E115A0}" type="presParOf" srcId="{A29EDB0B-7757-44E2-8CEB-8D6EC1EB4645}" destId="{265149B5-E8E7-47DB-8F65-A374CE513225}" srcOrd="0" destOrd="0" presId="urn:microsoft.com/office/officeart/2018/2/layout/IconLabelList"/>
    <dgm:cxn modelId="{F7A2DFE9-79C3-48E7-BEFB-0D5274E27174}" type="presParOf" srcId="{A29EDB0B-7757-44E2-8CEB-8D6EC1EB4645}" destId="{075C11D2-30A7-4E23-ABD4-0D831095AEA5}" srcOrd="1" destOrd="0" presId="urn:microsoft.com/office/officeart/2018/2/layout/IconLabelList"/>
    <dgm:cxn modelId="{5823D19C-A340-43E5-A7AC-1D3ABDF6261F}" type="presParOf" srcId="{A29EDB0B-7757-44E2-8CEB-8D6EC1EB4645}" destId="{987F8B8B-91E6-44C8-AFFD-F1C778835DFF}" srcOrd="2" destOrd="0" presId="urn:microsoft.com/office/officeart/2018/2/layout/IconLabelList"/>
    <dgm:cxn modelId="{0AB966AE-B7A7-49C3-A07F-79DFECF2E73F}" type="presParOf" srcId="{1D2379F2-FD01-41E2-8344-7E24F4FC2CC8}" destId="{674C0B7B-5BE7-482D-AEAC-B629E96E2068}" srcOrd="5" destOrd="0" presId="urn:microsoft.com/office/officeart/2018/2/layout/IconLabelList"/>
    <dgm:cxn modelId="{325B00B0-E5D5-41B6-90DA-4A83FF56D28E}" type="presParOf" srcId="{1D2379F2-FD01-41E2-8344-7E24F4FC2CC8}" destId="{187BFAA4-F6FF-4C15-A8CB-DF0DFE272117}" srcOrd="6" destOrd="0" presId="urn:microsoft.com/office/officeart/2018/2/layout/IconLabelList"/>
    <dgm:cxn modelId="{428D1319-36C5-48A1-B5AD-C4D331FD7B67}" type="presParOf" srcId="{187BFAA4-F6FF-4C15-A8CB-DF0DFE272117}" destId="{DF0034CC-2ABF-4DC2-9954-8ADBC874D20F}" srcOrd="0" destOrd="0" presId="urn:microsoft.com/office/officeart/2018/2/layout/IconLabelList"/>
    <dgm:cxn modelId="{F57EA94E-41F1-488C-BF28-ED91959516A8}" type="presParOf" srcId="{187BFAA4-F6FF-4C15-A8CB-DF0DFE272117}" destId="{549D3195-9607-4B8B-8349-E8D4B554F755}" srcOrd="1" destOrd="0" presId="urn:microsoft.com/office/officeart/2018/2/layout/IconLabelList"/>
    <dgm:cxn modelId="{C01A1A4F-B211-4A6F-9F47-9B96AD354A8A}" type="presParOf" srcId="{187BFAA4-F6FF-4C15-A8CB-DF0DFE272117}" destId="{5D5ED65A-0315-405C-A2DD-6C0377077D1D}" srcOrd="2" destOrd="0" presId="urn:microsoft.com/office/officeart/2018/2/layout/IconLabelList"/>
    <dgm:cxn modelId="{ECF41175-61A0-4996-8D52-0B557DF1B09E}" type="presParOf" srcId="{1D2379F2-FD01-41E2-8344-7E24F4FC2CC8}" destId="{A9FC943C-83E9-4FD1-84B8-A90243E40450}" srcOrd="7" destOrd="0" presId="urn:microsoft.com/office/officeart/2018/2/layout/IconLabelList"/>
    <dgm:cxn modelId="{24E47A9D-274B-4F5C-A1EB-4E4DA39E50B6}" type="presParOf" srcId="{1D2379F2-FD01-41E2-8344-7E24F4FC2CC8}" destId="{CE969A80-0769-4A45-95BB-C3387BAF3513}" srcOrd="8" destOrd="0" presId="urn:microsoft.com/office/officeart/2018/2/layout/IconLabelList"/>
    <dgm:cxn modelId="{D99C00CD-B1C7-4A28-933D-BCADA76C0B12}" type="presParOf" srcId="{CE969A80-0769-4A45-95BB-C3387BAF3513}" destId="{74329C99-ABD3-4701-8FDB-61CC9232FAF7}" srcOrd="0" destOrd="0" presId="urn:microsoft.com/office/officeart/2018/2/layout/IconLabelList"/>
    <dgm:cxn modelId="{075576CD-2799-4F49-9DEF-172CD5C5156A}" type="presParOf" srcId="{CE969A80-0769-4A45-95BB-C3387BAF3513}" destId="{71051184-5628-4EA9-B6E9-E59740D05947}" srcOrd="1" destOrd="0" presId="urn:microsoft.com/office/officeart/2018/2/layout/IconLabelList"/>
    <dgm:cxn modelId="{25207691-D2A2-4CDF-B348-09A19707267B}" type="presParOf" srcId="{CE969A80-0769-4A45-95BB-C3387BAF3513}" destId="{2C1D8E12-2DF4-4D97-BEDB-AB5ADD2264E3}" srcOrd="2" destOrd="0" presId="urn:microsoft.com/office/officeart/2018/2/layout/IconLabelList"/>
    <dgm:cxn modelId="{8E8AC6BE-1E25-4BC5-8633-68B5F2EF83CA}" type="presParOf" srcId="{1D2379F2-FD01-41E2-8344-7E24F4FC2CC8}" destId="{B08D0100-39AD-4488-A865-07150DB8609D}" srcOrd="9" destOrd="0" presId="urn:microsoft.com/office/officeart/2018/2/layout/IconLabelList"/>
    <dgm:cxn modelId="{E44D5D4B-1C51-4DF2-9D96-FB460175D2B8}" type="presParOf" srcId="{1D2379F2-FD01-41E2-8344-7E24F4FC2CC8}" destId="{9FD68C6B-3A44-4BC8-80FE-E362CEE57548}" srcOrd="10" destOrd="0" presId="urn:microsoft.com/office/officeart/2018/2/layout/IconLabelList"/>
    <dgm:cxn modelId="{3B2F490B-BBB5-4F75-82FD-EC55BEF3C74F}" type="presParOf" srcId="{9FD68C6B-3A44-4BC8-80FE-E362CEE57548}" destId="{94D057EB-02C5-4E06-A3C0-DCA1DB83E5DE}" srcOrd="0" destOrd="0" presId="urn:microsoft.com/office/officeart/2018/2/layout/IconLabelList"/>
    <dgm:cxn modelId="{99F0BC85-4DAF-4B10-81AC-F8F4A6FC06AD}" type="presParOf" srcId="{9FD68C6B-3A44-4BC8-80FE-E362CEE57548}" destId="{F25A4C79-3BFC-4DE9-BEB5-1222CDABA8A4}" srcOrd="1" destOrd="0" presId="urn:microsoft.com/office/officeart/2018/2/layout/IconLabelList"/>
    <dgm:cxn modelId="{A377D5E5-DCA8-40F2-AF0E-5ACE64F89FCA}" type="presParOf" srcId="{9FD68C6B-3A44-4BC8-80FE-E362CEE57548}" destId="{C7F1C88C-B570-49D9-B030-489314E56CA0}"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328536-8610-48D9-8A06-B415A94658D9}">
      <dsp:nvSpPr>
        <dsp:cNvPr id="0" name=""/>
        <dsp:cNvSpPr/>
      </dsp:nvSpPr>
      <dsp:spPr>
        <a:xfrm>
          <a:off x="402520"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8B8558-FD87-4F17-9BD5-83C19E6F20BA}">
      <dsp:nvSpPr>
        <dsp:cNvPr id="0" name=""/>
        <dsp:cNvSpPr/>
      </dsp:nvSpPr>
      <dsp:spPr>
        <a:xfrm>
          <a:off x="332"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a:t>Bacchus Winery may add additional suppliers or distributors in the future.</a:t>
          </a:r>
          <a:endParaRPr lang="en-US" sz="1100" kern="1200"/>
        </a:p>
      </dsp:txBody>
      <dsp:txXfrm>
        <a:off x="332" y="1960024"/>
        <a:ext cx="1462500" cy="621562"/>
      </dsp:txXfrm>
    </dsp:sp>
    <dsp:sp modelId="{8FFE22EE-272C-454C-9E35-8F262E095E0D}">
      <dsp:nvSpPr>
        <dsp:cNvPr id="0" name=""/>
        <dsp:cNvSpPr/>
      </dsp:nvSpPr>
      <dsp:spPr>
        <a:xfrm>
          <a:off x="2120957"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F2A548-1EAE-4CAB-B228-C1D10738517C}">
      <dsp:nvSpPr>
        <dsp:cNvPr id="0" name=""/>
        <dsp:cNvSpPr/>
      </dsp:nvSpPr>
      <dsp:spPr>
        <a:xfrm>
          <a:off x="1718770"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a:t>An item may eventually be available from more than one supplier.</a:t>
          </a:r>
          <a:endParaRPr lang="en-US" sz="1100" kern="1200"/>
        </a:p>
      </dsp:txBody>
      <dsp:txXfrm>
        <a:off x="1718770" y="1960024"/>
        <a:ext cx="1462500" cy="621562"/>
      </dsp:txXfrm>
    </dsp:sp>
    <dsp:sp modelId="{265149B5-E8E7-47DB-8F65-A374CE513225}">
      <dsp:nvSpPr>
        <dsp:cNvPr id="0" name=""/>
        <dsp:cNvSpPr/>
      </dsp:nvSpPr>
      <dsp:spPr>
        <a:xfrm>
          <a:off x="3839395"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7F8B8B-91E6-44C8-AFFD-F1C778835DFF}">
      <dsp:nvSpPr>
        <dsp:cNvPr id="0" name=""/>
        <dsp:cNvSpPr/>
      </dsp:nvSpPr>
      <dsp:spPr>
        <a:xfrm>
          <a:off x="3437207"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a:t>Wines and supplies share enough common attributes to be represented in the ITEM table.</a:t>
          </a:r>
          <a:endParaRPr lang="en-US" sz="1100" kern="1200"/>
        </a:p>
      </dsp:txBody>
      <dsp:txXfrm>
        <a:off x="3437207" y="1960024"/>
        <a:ext cx="1462500" cy="621562"/>
      </dsp:txXfrm>
    </dsp:sp>
    <dsp:sp modelId="{DF0034CC-2ABF-4DC2-9954-8ADBC874D20F}">
      <dsp:nvSpPr>
        <dsp:cNvPr id="0" name=""/>
        <dsp:cNvSpPr/>
      </dsp:nvSpPr>
      <dsp:spPr>
        <a:xfrm>
          <a:off x="5557832"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5ED65A-0315-405C-A2DD-6C0377077D1D}">
      <dsp:nvSpPr>
        <dsp:cNvPr id="0" name=""/>
        <dsp:cNvSpPr/>
      </dsp:nvSpPr>
      <dsp:spPr>
        <a:xfrm>
          <a:off x="5155645"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a:t>CATEGORY identifies whether an item is a SUPPLY or PRODUCT.</a:t>
          </a:r>
          <a:endParaRPr lang="en-US" sz="1100" kern="1200"/>
        </a:p>
      </dsp:txBody>
      <dsp:txXfrm>
        <a:off x="5155645" y="1960024"/>
        <a:ext cx="1462500" cy="621562"/>
      </dsp:txXfrm>
    </dsp:sp>
    <dsp:sp modelId="{74329C99-ABD3-4701-8FDB-61CC9232FAF7}">
      <dsp:nvSpPr>
        <dsp:cNvPr id="0" name=""/>
        <dsp:cNvSpPr/>
      </dsp:nvSpPr>
      <dsp:spPr>
        <a:xfrm>
          <a:off x="7276270"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1D8E12-2DF4-4D97-BEDB-AB5ADD2264E3}">
      <dsp:nvSpPr>
        <dsp:cNvPr id="0" name=""/>
        <dsp:cNvSpPr/>
      </dsp:nvSpPr>
      <dsp:spPr>
        <a:xfrm>
          <a:off x="6874082"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a:t>Reorder levels apply to supplies used in winery operations.</a:t>
          </a:r>
          <a:endParaRPr lang="en-US" sz="1100" kern="1200"/>
        </a:p>
      </dsp:txBody>
      <dsp:txXfrm>
        <a:off x="6874082" y="1960024"/>
        <a:ext cx="1462500" cy="621562"/>
      </dsp:txXfrm>
    </dsp:sp>
    <dsp:sp modelId="{94D057EB-02C5-4E06-A3C0-DCA1DB83E5DE}">
      <dsp:nvSpPr>
        <dsp:cNvPr id="0" name=""/>
        <dsp:cNvSpPr/>
      </dsp:nvSpPr>
      <dsp:spPr>
        <a:xfrm>
          <a:off x="8994707" y="1076014"/>
          <a:ext cx="658125" cy="6581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F1C88C-B570-49D9-B030-489314E56CA0}">
      <dsp:nvSpPr>
        <dsp:cNvPr id="0" name=""/>
        <dsp:cNvSpPr/>
      </dsp:nvSpPr>
      <dsp:spPr>
        <a:xfrm>
          <a:off x="8592520" y="1960024"/>
          <a:ext cx="1462500" cy="6215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b="0" i="0" kern="1200" dirty="0"/>
            <a:t>Sales performance is based on actual units sold because the case study did not provide expected sales targets.</a:t>
          </a:r>
          <a:endParaRPr lang="en-US" sz="1100" kern="1200" dirty="0"/>
        </a:p>
      </dsp:txBody>
      <dsp:txXfrm>
        <a:off x="8592520" y="1960024"/>
        <a:ext cx="1462500" cy="62156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8/15/2026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Bacchus Winery needed a better way to organize its operational data and turn it into useful information capable of guiding important business decisions.</a:t>
            </a:r>
          </a:p>
          <a:p>
            <a:r>
              <a:rPr lang="en-US" dirty="0"/>
              <a:t>Focused on the business’ proposed main areas: inventory and suppliers, supplier deliveries, wine distribution and sales, and employee hours.</a:t>
            </a:r>
          </a:p>
          <a:p>
            <a:r>
              <a:rPr lang="en-US" dirty="0"/>
              <a:t>The design aims to avoid unnecessary duplication and build reports to answer these questions.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20339889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our main design goals was keeping the database normalized while still representing the business clearly. Instead of creating a separate wine table with many of the same attributes as an item, we categorized items as either supplies or products.</a:t>
            </a:r>
          </a:p>
          <a:p>
            <a:r>
              <a:rPr lang="en-US" dirty="0"/>
              <a:t>We also introduced junction tables because a supplier can provide multiple items, and an item can potentially be provided by multiple suppliers. The same applies to distributors and wines.</a:t>
            </a:r>
          </a:p>
          <a:p>
            <a:r>
              <a:rPr lang="en-US" dirty="0"/>
              <a:t>While Bacchus currently only has three suppliers and does not have multiple suppliers providing the same items, we designed the database to support that possibility in the future. This allows the database to accommodate additional suppliers without requiring changes to the schema.</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4263944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The database can be viewed in three main sections. Purchasing handles supplies coming into the winery, starting with suppliers and moving through purchase orders and deliveries. We separated the order details and deliveries so each part of the purchasing process can be tracked independently.</a:t>
            </a:r>
          </a:p>
          <a:p>
            <a:r>
              <a:rPr lang="en-US" b="0" dirty="0"/>
              <a:t>Sales and distribution handles products leaving the winery. Distributors are associated with the wines they carry, while sales orders, order details, and shipments track what was ordered and its delivery.</a:t>
            </a:r>
          </a:p>
          <a:p>
            <a:r>
              <a:rPr lang="en-US" b="0" dirty="0"/>
              <a:t>The </a:t>
            </a:r>
            <a:r>
              <a:rPr lang="en-US" sz="1200" b="0" kern="1200" dirty="0">
                <a:solidFill>
                  <a:schemeClr val="tx1"/>
                </a:solidFill>
                <a:latin typeface="+mn-lt"/>
                <a:ea typeface="+mn-ea"/>
                <a:cs typeface="+mn-cs"/>
              </a:rPr>
              <a:t>ITEM</a:t>
            </a:r>
            <a:r>
              <a:rPr lang="en-US" b="0" dirty="0"/>
              <a:t> table connects these two sides by storing both supplies we purchase and products we sell, differentiated by category.</a:t>
            </a:r>
          </a:p>
          <a:p>
            <a:r>
              <a:rPr lang="en-US" b="0" dirty="0"/>
              <a:t>Finally, employees and time entries are kept separate from those processes and allow us to track employee hours over time.</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77658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79045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report compares expected and actual delivery dates and calculates the number of days between them. The status makes late deliveries easy to identify, allowing management to evaluate supplier reliability and identify delays that could impact production.</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2759544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74702-A8DA-D7F0-7DC1-2B808E201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43C9E-7540-F3A4-6799-172F82CB6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8316C9-9ED7-6EC9-3E25-1A6D063033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report combines distribution and sales information. It shows which wines each distributor carries and how many units they have sold. We also include zero-sale combinations and totals for each wine, making it easier to identify which wines are performing well and which may need additional attention.</a:t>
            </a:r>
          </a:p>
          <a:p>
            <a:endParaRPr lang="en-US" dirty="0"/>
          </a:p>
        </p:txBody>
      </p:sp>
      <p:sp>
        <p:nvSpPr>
          <p:cNvPr id="4" name="Slide Number Placeholder 3">
            <a:extLst>
              <a:ext uri="{FF2B5EF4-FFF2-40B4-BE49-F238E27FC236}">
                <a16:creationId xmlns:a16="http://schemas.microsoft.com/office/drawing/2014/main" id="{01B5EC02-9492-CD0C-8DC6-18CA97B32F9B}"/>
              </a:ext>
            </a:extLst>
          </p:cNvPr>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490323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report summarizes each employee's hours by quarter. Instead of reviewing individual time entries, management can compare employee hours across the previous four quarters and identify changes or trends in labor usage.</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307071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made several assumptions where the case study did not provide specific details. Most importantly, we designed the relationships to support additional suppliers and distributors without changing the schema. We also combined supplies and wines into the ITEM table to reduce duplicate structures. Since no expected sales targets were provided, our sales report compares actual wine sales rather than measuring them against a forecast.</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951904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goal was not only to organize Bacchus Winery's data, but to make that data useful. The final database supports the major business processes in the case study, while our reports turn the stored data into information management can use to identify problems and make decisions.</a:t>
            </a:r>
          </a:p>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835970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8/15/2026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36651502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64317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8/15/2026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8/15/2026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8/15/2026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8/15/2026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8/15/2026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8/15/2026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046496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8/15/2026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48995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8/15/2026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8/15/2026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31704037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80466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831670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8/15/2026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608936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8/15/2026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8/15/2026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8/15/2026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236223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8/15/2026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8/15/2026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18447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8/15/2026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8/15/2026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8/15/2026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8/15/2026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8/15/2026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8/15/2026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8/15/2026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8/15/2026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8/15/2026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8/15/2026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51112780"/>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8/15/2026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594551634"/>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8/15/2026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8/15/2026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8/15/2026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8/15/2026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790243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8/15/2026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8/15/2026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8/15/2026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259901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8/15/2026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8/15/2026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9412058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8/15/2026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91053645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8/15/2026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889949673"/>
      </p:ext>
    </p:extLst>
  </p:cSld>
  <p:clrMap bg1="lt1" tx1="dk1" bg2="lt2" tx2="dk2" accent1="accent1" accent2="accent2" accent3="accent3" accent4="accent4" accent5="accent5" accent6="accent6" hlink="hlink" folHlink="folHlink"/>
  <p:sldLayoutIdLst>
    <p:sldLayoutId id="2147484119" r:id="rId1"/>
    <p:sldLayoutId id="2147484115" r:id="rId2"/>
    <p:sldLayoutId id="2147484114" r:id="rId3"/>
    <p:sldLayoutId id="2147484116" r:id="rId4"/>
    <p:sldLayoutId id="2147484117" r:id="rId5"/>
    <p:sldLayoutId id="2147484118" r:id="rId6"/>
    <p:sldLayoutId id="2147484120" r:id="rId7"/>
    <p:sldLayoutId id="2147484121" r:id="rId8"/>
    <p:sldLayoutId id="2147484122" r:id="rId9"/>
    <p:sldLayoutId id="2147484169" r:id="rId10"/>
    <p:sldLayoutId id="2147484124" r:id="rId11"/>
    <p:sldLayoutId id="2147484125" r:id="rId12"/>
    <p:sldLayoutId id="2147484126" r:id="rId13"/>
    <p:sldLayoutId id="2147484127" r:id="rId14"/>
    <p:sldLayoutId id="2147484128" r:id="rId15"/>
    <p:sldLayoutId id="2147484129" r:id="rId16"/>
    <p:sldLayoutId id="2147484130" r:id="rId17"/>
    <p:sldLayoutId id="2147484131" r:id="rId18"/>
    <p:sldLayoutId id="2147484132" r:id="rId19"/>
    <p:sldLayoutId id="2147484133" r:id="rId20"/>
    <p:sldLayoutId id="2147484134" r:id="rId21"/>
    <p:sldLayoutId id="2147484135" r:id="rId22"/>
    <p:sldLayoutId id="2147484136" r:id="rId23"/>
    <p:sldLayoutId id="2147484137" r:id="rId24"/>
    <p:sldLayoutId id="2147484138" r:id="rId25"/>
    <p:sldLayoutId id="2147484139" r:id="rId26"/>
    <p:sldLayoutId id="2147484140" r:id="rId27"/>
    <p:sldLayoutId id="2147484141" r:id="rId28"/>
    <p:sldLayoutId id="2147484142" r:id="rId29"/>
    <p:sldLayoutId id="2147484143" r:id="rId30"/>
    <p:sldLayoutId id="2147484144" r:id="rId31"/>
    <p:sldLayoutId id="2147484145" r:id="rId32"/>
    <p:sldLayoutId id="2147484146" r:id="rId33"/>
    <p:sldLayoutId id="2147484147" r:id="rId34"/>
    <p:sldLayoutId id="2147484148" r:id="rId35"/>
    <p:sldLayoutId id="2147484149" r:id="rId36"/>
    <p:sldLayoutId id="2147484150" r:id="rId37"/>
    <p:sldLayoutId id="2147484152" r:id="rId38"/>
    <p:sldLayoutId id="2147484153" r:id="rId39"/>
    <p:sldLayoutId id="2147484157" r:id="rId40"/>
    <p:sldLayoutId id="2147484158" r:id="rId41"/>
    <p:sldLayoutId id="2147484159" r:id="rId42"/>
    <p:sldLayoutId id="2147484160" r:id="rId43"/>
    <p:sldLayoutId id="2147484161" r:id="rId44"/>
    <p:sldLayoutId id="2147484162" r:id="rId45"/>
    <p:sldLayoutId id="2147484163" r:id="rId46"/>
    <p:sldLayoutId id="2147484164" r:id="rId47"/>
    <p:sldLayoutId id="2147484165" r:id="rId48"/>
    <p:sldLayoutId id="2147484166" r:id="rId49"/>
    <p:sldLayoutId id="2147484167" r:id="rId50"/>
    <p:sldLayoutId id="2147484168"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hyperlink" Target="https://www.rawpixel.com/image/719505/free-image-rawpixe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hyperlink" Target="https://www.civicmic.com/city-of-lincoln-annual-reports-2025-26/" TargetMode="External"/><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4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r>
              <a:rPr lang="en-US" dirty="0"/>
              <a:t>Bacchus-Winery</a:t>
            </a:r>
            <a:br>
              <a:rPr lang="en-US" dirty="0"/>
            </a:br>
            <a:r>
              <a:rPr lang="en-US" sz="6000" dirty="0"/>
              <a:t>Case Study</a:t>
            </a:r>
            <a:endParaRPr lang="en-US" dirty="0"/>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p:txBody>
          <a:bodyPr>
            <a:normAutofit lnSpcReduction="10000"/>
          </a:bodyPr>
          <a:lstStyle/>
          <a:p>
            <a:r>
              <a:rPr lang="en-US" dirty="0"/>
              <a:t>Presentation by Lane Dorscher, Chelsea Mcelhiney, and Pedro Avila (Group A)</a:t>
            </a:r>
          </a:p>
          <a:p>
            <a:r>
              <a:rPr lang="en-US" dirty="0"/>
              <a:t>For CSD-310 Database Development and Use</a:t>
            </a: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48AB3-1042-D8D4-4443-26A3DFA23228}"/>
              </a:ext>
            </a:extLst>
          </p:cNvPr>
          <p:cNvSpPr>
            <a:spLocks noGrp="1"/>
          </p:cNvSpPr>
          <p:nvPr>
            <p:ph type="title"/>
          </p:nvPr>
        </p:nvSpPr>
        <p:spPr/>
        <p:txBody>
          <a:bodyPr/>
          <a:lstStyle/>
          <a:p>
            <a:r>
              <a:rPr lang="en-US" dirty="0"/>
              <a:t>Overview	</a:t>
            </a:r>
          </a:p>
        </p:txBody>
      </p:sp>
      <p:sp>
        <p:nvSpPr>
          <p:cNvPr id="3" name="Content Placeholder 2">
            <a:extLst>
              <a:ext uri="{FF2B5EF4-FFF2-40B4-BE49-F238E27FC236}">
                <a16:creationId xmlns:a16="http://schemas.microsoft.com/office/drawing/2014/main" id="{E9684E5A-7521-53AB-02CA-B9A3DEB26422}"/>
              </a:ext>
            </a:extLst>
          </p:cNvPr>
          <p:cNvSpPr>
            <a:spLocks noGrp="1"/>
          </p:cNvSpPr>
          <p:nvPr>
            <p:ph idx="1"/>
          </p:nvPr>
        </p:nvSpPr>
        <p:spPr/>
        <p:txBody>
          <a:bodyPr/>
          <a:lstStyle/>
          <a:p>
            <a:pPr marL="285750" indent="-285750">
              <a:buFont typeface="Arial" panose="020B0604020202020204" pitchFamily="34" charset="0"/>
              <a:buChar char="•"/>
            </a:pPr>
            <a:r>
              <a:rPr lang="en-US" sz="1800" dirty="0"/>
              <a:t>Family-owned winery producing 4 key wines: </a:t>
            </a:r>
            <a:r>
              <a:rPr lang="en-US" sz="1800" b="1" dirty="0"/>
              <a:t>Merlot</a:t>
            </a:r>
            <a:r>
              <a:rPr lang="en-US" sz="1800" dirty="0"/>
              <a:t>, </a:t>
            </a:r>
            <a:r>
              <a:rPr lang="en-US" sz="1800" b="1" dirty="0"/>
              <a:t>Cabernet</a:t>
            </a:r>
            <a:r>
              <a:rPr lang="en-US" sz="1800" dirty="0"/>
              <a:t>, </a:t>
            </a:r>
            <a:r>
              <a:rPr lang="en-US" sz="1800" b="1" dirty="0"/>
              <a:t>Chablis</a:t>
            </a:r>
            <a:r>
              <a:rPr lang="en-US" sz="1800" dirty="0"/>
              <a:t>, and </a:t>
            </a:r>
            <a:r>
              <a:rPr lang="en-US" sz="1800" b="1" dirty="0"/>
              <a:t>Chardonnay</a:t>
            </a:r>
          </a:p>
          <a:p>
            <a:pPr marL="285750" indent="-285750">
              <a:buFont typeface="Arial" panose="020B0604020202020204" pitchFamily="34" charset="0"/>
              <a:buChar char="•"/>
            </a:pPr>
            <a:r>
              <a:rPr lang="en-US" sz="1800" dirty="0"/>
              <a:t>Wanting better visibility into key areas of the business:</a:t>
            </a:r>
          </a:p>
          <a:p>
            <a:pPr marL="514350" lvl="1" indent="-285750">
              <a:buFont typeface="Arial" panose="020B0604020202020204" pitchFamily="34" charset="0"/>
              <a:buChar char="•"/>
            </a:pPr>
            <a:r>
              <a:rPr lang="en-US" sz="1800" dirty="0"/>
              <a:t>Inventory and Supply levels</a:t>
            </a:r>
          </a:p>
          <a:p>
            <a:pPr marL="514350" lvl="1" indent="-285750">
              <a:buFont typeface="Arial" panose="020B0604020202020204" pitchFamily="34" charset="0"/>
              <a:buChar char="•"/>
            </a:pPr>
            <a:r>
              <a:rPr lang="en-US" sz="1800" dirty="0"/>
              <a:t>Supplier delivery performance</a:t>
            </a:r>
          </a:p>
          <a:p>
            <a:pPr marL="514350" lvl="1" indent="-285750">
              <a:buFont typeface="Arial" panose="020B0604020202020204" pitchFamily="34" charset="0"/>
              <a:buChar char="•"/>
            </a:pPr>
            <a:r>
              <a:rPr lang="en-US" sz="1800" dirty="0"/>
              <a:t>Wine distribution and sales</a:t>
            </a:r>
          </a:p>
          <a:p>
            <a:pPr marL="514350" lvl="1" indent="-285750">
              <a:buFont typeface="Arial" panose="020B0604020202020204" pitchFamily="34" charset="0"/>
              <a:buChar char="•"/>
            </a:pPr>
            <a:r>
              <a:rPr lang="en-US" sz="1800" dirty="0"/>
              <a:t>Employee work hours	</a:t>
            </a:r>
          </a:p>
          <a:p>
            <a:pPr marL="285750" indent="-285750">
              <a:buFont typeface="Arial" panose="020B0604020202020204" pitchFamily="34" charset="0"/>
              <a:buChar char="•"/>
            </a:pPr>
            <a:r>
              <a:rPr lang="en-US" sz="1800" dirty="0"/>
              <a:t>Proposed Solution:</a:t>
            </a:r>
          </a:p>
          <a:p>
            <a:pPr marL="514350" lvl="1" indent="-285750">
              <a:buFont typeface="Arial" panose="020B0604020202020204" pitchFamily="34" charset="0"/>
              <a:buChar char="•"/>
            </a:pPr>
            <a:r>
              <a:rPr lang="en-US" sz="1800" dirty="0"/>
              <a:t>Uses a normalized MySQL database to organize and connect related business data</a:t>
            </a:r>
          </a:p>
          <a:p>
            <a:pPr marL="514350" lvl="1" indent="-285750">
              <a:buFont typeface="Arial" panose="020B0604020202020204" pitchFamily="34" charset="0"/>
              <a:buChar char="•"/>
            </a:pPr>
            <a:r>
              <a:rPr lang="en-US" sz="1800" dirty="0"/>
              <a:t>Reports used the stored data to help management identify problems and support business decisions</a:t>
            </a:r>
          </a:p>
          <a:p>
            <a:pPr marL="5143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983545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0BDE4-81B5-5F7E-D71F-B822991F121E}"/>
              </a:ext>
            </a:extLst>
          </p:cNvPr>
          <p:cNvSpPr>
            <a:spLocks noGrp="1"/>
          </p:cNvSpPr>
          <p:nvPr>
            <p:ph type="title"/>
          </p:nvPr>
        </p:nvSpPr>
        <p:spPr>
          <a:xfrm>
            <a:off x="6089903" y="685807"/>
            <a:ext cx="5486400" cy="1388302"/>
          </a:xfrm>
        </p:spPr>
        <p:txBody>
          <a:bodyPr anchor="b">
            <a:normAutofit/>
          </a:bodyPr>
          <a:lstStyle/>
          <a:p>
            <a:r>
              <a:rPr lang="en-US" sz="5000"/>
              <a:t>Database Design</a:t>
            </a:r>
          </a:p>
        </p:txBody>
      </p:sp>
      <p:sp>
        <p:nvSpPr>
          <p:cNvPr id="4" name="Content Placeholder 3">
            <a:extLst>
              <a:ext uri="{FF2B5EF4-FFF2-40B4-BE49-F238E27FC236}">
                <a16:creationId xmlns:a16="http://schemas.microsoft.com/office/drawing/2014/main" id="{20B6B066-1CDF-6046-A8A8-D0C969C3CEC1}"/>
              </a:ext>
            </a:extLst>
          </p:cNvPr>
          <p:cNvSpPr>
            <a:spLocks noGrp="1"/>
          </p:cNvSpPr>
          <p:nvPr>
            <p:ph sz="quarter" idx="14"/>
          </p:nvPr>
        </p:nvSpPr>
        <p:spPr>
          <a:xfrm>
            <a:off x="6089903" y="2650330"/>
            <a:ext cx="5486400" cy="3521854"/>
          </a:xfrm>
        </p:spPr>
        <p:txBody>
          <a:bodyPr>
            <a:normAutofit/>
          </a:bodyPr>
          <a:lstStyle/>
          <a:p>
            <a:pPr marL="285750" lvl="0" indent="-285750">
              <a:lnSpc>
                <a:spcPct val="90000"/>
              </a:lnSpc>
              <a:buFont typeface="Arial" panose="020B0604020202020204" pitchFamily="34" charset="0"/>
              <a:buChar char="•"/>
            </a:pPr>
            <a:r>
              <a:rPr lang="en-US" sz="1200" dirty="0"/>
              <a:t>Designed in </a:t>
            </a:r>
            <a:r>
              <a:rPr lang="en-US" sz="1200" b="1" dirty="0"/>
              <a:t>Third Normal Form (3NF)</a:t>
            </a:r>
            <a:r>
              <a:rPr lang="en-US" sz="1200" dirty="0"/>
              <a:t> to reduce redundant data </a:t>
            </a:r>
          </a:p>
          <a:p>
            <a:pPr marL="285750" lvl="0" indent="-285750">
              <a:lnSpc>
                <a:spcPct val="90000"/>
              </a:lnSpc>
              <a:buFont typeface="Arial" panose="020B0604020202020204" pitchFamily="34" charset="0"/>
              <a:buChar char="•"/>
            </a:pPr>
            <a:r>
              <a:rPr lang="en-US" sz="1200" dirty="0"/>
              <a:t>Used </a:t>
            </a:r>
            <a:r>
              <a:rPr lang="en-US" sz="1200" b="1" dirty="0"/>
              <a:t>primary and foreign keys</a:t>
            </a:r>
            <a:r>
              <a:rPr lang="en-US" sz="1200" dirty="0"/>
              <a:t> to maintain relationships between business entities </a:t>
            </a:r>
          </a:p>
          <a:p>
            <a:pPr marL="285750" lvl="0" indent="-285750">
              <a:lnSpc>
                <a:spcPct val="90000"/>
              </a:lnSpc>
              <a:buFont typeface="Arial" panose="020B0604020202020204" pitchFamily="34" charset="0"/>
              <a:buChar char="•"/>
            </a:pPr>
            <a:r>
              <a:rPr lang="en-US" sz="1200" dirty="0"/>
              <a:t>Used </a:t>
            </a:r>
            <a:r>
              <a:rPr lang="en-US" sz="1200" b="1" dirty="0"/>
              <a:t>junction tables</a:t>
            </a:r>
            <a:r>
              <a:rPr lang="en-US" sz="1200" dirty="0"/>
              <a:t> for many-to-many relationships: </a:t>
            </a:r>
          </a:p>
          <a:p>
            <a:pPr marL="514350" lvl="1" indent="-285750">
              <a:lnSpc>
                <a:spcPct val="90000"/>
              </a:lnSpc>
              <a:buFont typeface="Arial" panose="020B0604020202020204" pitchFamily="34" charset="0"/>
              <a:buChar char="•"/>
            </a:pPr>
            <a:r>
              <a:rPr lang="en-US" sz="1200" dirty="0"/>
              <a:t>SUPPLIER_ITEM – items can be provided by multiple suppliers </a:t>
            </a:r>
          </a:p>
          <a:p>
            <a:pPr marL="514350" lvl="1" indent="-285750">
              <a:lnSpc>
                <a:spcPct val="90000"/>
              </a:lnSpc>
              <a:buFont typeface="Arial" panose="020B0604020202020204" pitchFamily="34" charset="0"/>
              <a:buChar char="•"/>
            </a:pPr>
            <a:r>
              <a:rPr lang="en-US" sz="1200" dirty="0"/>
              <a:t>DISTRIBUTOR_ITEM – wines can be carried by multiple distributors </a:t>
            </a:r>
          </a:p>
          <a:p>
            <a:pPr marL="285750" lvl="0" indent="-285750">
              <a:lnSpc>
                <a:spcPct val="90000"/>
              </a:lnSpc>
              <a:buFont typeface="Arial" panose="020B0604020202020204" pitchFamily="34" charset="0"/>
              <a:buChar char="•"/>
            </a:pPr>
            <a:r>
              <a:rPr lang="en-US" sz="1200" dirty="0"/>
              <a:t>Combined supplies and wines into a shared ITEM table, differentiated by CATEGORY: </a:t>
            </a:r>
          </a:p>
          <a:p>
            <a:pPr marL="514350" lvl="1" indent="-285750">
              <a:lnSpc>
                <a:spcPct val="90000"/>
              </a:lnSpc>
              <a:buFont typeface="Arial" panose="020B0604020202020204" pitchFamily="34" charset="0"/>
              <a:buChar char="•"/>
            </a:pPr>
            <a:r>
              <a:rPr lang="en-US" sz="1200" dirty="0"/>
              <a:t>SUPPLY – materials used by the winery, not for resale </a:t>
            </a:r>
          </a:p>
          <a:p>
            <a:pPr marL="514350" lvl="1" indent="-285750">
              <a:lnSpc>
                <a:spcPct val="90000"/>
              </a:lnSpc>
              <a:buFont typeface="Arial" panose="020B0604020202020204" pitchFamily="34" charset="0"/>
              <a:buChar char="•"/>
            </a:pPr>
            <a:r>
              <a:rPr lang="en-US" sz="1200" dirty="0"/>
              <a:t>PRODUCT – wines sold by the winery </a:t>
            </a:r>
          </a:p>
          <a:p>
            <a:pPr marL="285750" lvl="0" indent="-285750">
              <a:lnSpc>
                <a:spcPct val="90000"/>
              </a:lnSpc>
              <a:buFont typeface="Arial" panose="020B0604020202020204" pitchFamily="34" charset="0"/>
              <a:buChar char="•"/>
            </a:pPr>
            <a:r>
              <a:rPr lang="en-US" sz="1200" dirty="0"/>
              <a:t>Separated </a:t>
            </a:r>
            <a:r>
              <a:rPr lang="en-US" sz="1200" b="1" dirty="0"/>
              <a:t>order headers, details, deliveries, and shipments</a:t>
            </a:r>
            <a:r>
              <a:rPr lang="en-US" sz="1200" dirty="0"/>
              <a:t> to avoid repeated order-level information: </a:t>
            </a:r>
          </a:p>
          <a:p>
            <a:pPr marL="514350" lvl="1" indent="-285750">
              <a:lnSpc>
                <a:spcPct val="90000"/>
              </a:lnSpc>
              <a:buFont typeface="Arial" panose="020B0604020202020204" pitchFamily="34" charset="0"/>
              <a:buChar char="•"/>
            </a:pPr>
            <a:r>
              <a:rPr lang="en-US" sz="1200" dirty="0"/>
              <a:t>PURCHASE_ORDER – tracks supplies Bacchus Winery purchases for inventory </a:t>
            </a:r>
          </a:p>
          <a:p>
            <a:pPr marL="514350" lvl="1" indent="-285750">
              <a:lnSpc>
                <a:spcPct val="90000"/>
              </a:lnSpc>
              <a:buFont typeface="Arial" panose="020B0604020202020204" pitchFamily="34" charset="0"/>
              <a:buChar char="•"/>
            </a:pPr>
            <a:r>
              <a:rPr lang="en-US" sz="1200" dirty="0"/>
              <a:t>SALES_ORDER – tracks wine orders placed by distributors</a:t>
            </a:r>
          </a:p>
        </p:txBody>
      </p:sp>
      <p:pic>
        <p:nvPicPr>
          <p:cNvPr id="35" name="Picture 34">
            <a:extLst>
              <a:ext uri="{FF2B5EF4-FFF2-40B4-BE49-F238E27FC236}">
                <a16:creationId xmlns:a16="http://schemas.microsoft.com/office/drawing/2014/main" id="{0720856A-D643-3AB1-836F-C7DF66B8297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04800" y="380305"/>
            <a:ext cx="5233556" cy="6097389"/>
          </a:xfrm>
          <a:prstGeom prst="rect">
            <a:avLst/>
          </a:prstGeom>
        </p:spPr>
      </p:pic>
    </p:spTree>
    <p:extLst>
      <p:ext uri="{BB962C8B-B14F-4D97-AF65-F5344CB8AC3E}">
        <p14:creationId xmlns:p14="http://schemas.microsoft.com/office/powerpoint/2010/main" val="2630189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1F76-BCD7-EE11-08FC-5941AF7C46E2}"/>
              </a:ext>
            </a:extLst>
          </p:cNvPr>
          <p:cNvSpPr>
            <a:spLocks noGrp="1"/>
          </p:cNvSpPr>
          <p:nvPr>
            <p:ph type="ctrTitle"/>
          </p:nvPr>
        </p:nvSpPr>
        <p:spPr/>
        <p:txBody>
          <a:bodyPr/>
          <a:lstStyle/>
          <a:p>
            <a:r>
              <a:rPr lang="en-US" dirty="0">
                <a:solidFill>
                  <a:schemeClr val="accent4"/>
                </a:solidFill>
              </a:rPr>
              <a:t>E</a:t>
            </a:r>
            <a:r>
              <a:rPr lang="en-US" dirty="0"/>
              <a:t>ntity </a:t>
            </a:r>
            <a:r>
              <a:rPr lang="en-US" dirty="0">
                <a:solidFill>
                  <a:schemeClr val="accent4"/>
                </a:solidFill>
              </a:rPr>
              <a:t>R</a:t>
            </a:r>
            <a:r>
              <a:rPr lang="en-US" dirty="0"/>
              <a:t>elationship </a:t>
            </a:r>
            <a:r>
              <a:rPr lang="en-US" dirty="0">
                <a:solidFill>
                  <a:schemeClr val="accent4"/>
                </a:solidFill>
              </a:rPr>
              <a:t>D</a:t>
            </a:r>
            <a:r>
              <a:rPr lang="en-US" dirty="0"/>
              <a:t>iagram</a:t>
            </a:r>
          </a:p>
        </p:txBody>
      </p:sp>
    </p:spTree>
    <p:extLst>
      <p:ext uri="{BB962C8B-B14F-4D97-AF65-F5344CB8AC3E}">
        <p14:creationId xmlns:p14="http://schemas.microsoft.com/office/powerpoint/2010/main" val="3419417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AB890-E6B2-65E4-34BB-11379A9F85B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BA9F77-AF86-D7CA-8B1E-FA7F11C35D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0" y="0"/>
            <a:ext cx="12221450" cy="6324600"/>
          </a:xfrm>
          <a:prstGeom prst="rect">
            <a:avLst/>
          </a:prstGeom>
          <a:noFill/>
        </p:spPr>
      </p:pic>
      <p:sp>
        <p:nvSpPr>
          <p:cNvPr id="5" name="TextBox 4">
            <a:extLst>
              <a:ext uri="{FF2B5EF4-FFF2-40B4-BE49-F238E27FC236}">
                <a16:creationId xmlns:a16="http://schemas.microsoft.com/office/drawing/2014/main" id="{40D55FD1-7F7C-7B91-1E07-C050130A2040}"/>
              </a:ext>
            </a:extLst>
          </p:cNvPr>
          <p:cNvSpPr txBox="1"/>
          <p:nvPr/>
        </p:nvSpPr>
        <p:spPr>
          <a:xfrm>
            <a:off x="193040" y="6339840"/>
            <a:ext cx="11313160" cy="369332"/>
          </a:xfrm>
          <a:prstGeom prst="rect">
            <a:avLst/>
          </a:prstGeom>
          <a:noFill/>
        </p:spPr>
        <p:txBody>
          <a:bodyPr wrap="square" rtlCol="0">
            <a:spAutoFit/>
          </a:bodyPr>
          <a:lstStyle/>
          <a:p>
            <a:r>
              <a:rPr lang="en-US" b="1" dirty="0"/>
              <a:t>13 </a:t>
            </a:r>
            <a:r>
              <a:rPr lang="en-US" dirty="0"/>
              <a:t>tables – Supports Inventory, Purchasing, distribution, sales, shipments, and employee time</a:t>
            </a:r>
            <a:endParaRPr lang="en-US" b="1" dirty="0"/>
          </a:p>
        </p:txBody>
      </p:sp>
    </p:spTree>
    <p:extLst>
      <p:ext uri="{BB962C8B-B14F-4D97-AF65-F5344CB8AC3E}">
        <p14:creationId xmlns:p14="http://schemas.microsoft.com/office/powerpoint/2010/main" val="55752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A1CA2-92CC-6479-993F-3F083D394D04}"/>
              </a:ext>
            </a:extLst>
          </p:cNvPr>
          <p:cNvSpPr>
            <a:spLocks noGrp="1"/>
          </p:cNvSpPr>
          <p:nvPr>
            <p:ph type="ctrTitle"/>
          </p:nvPr>
        </p:nvSpPr>
        <p:spPr>
          <a:xfrm>
            <a:off x="614172" y="4419600"/>
            <a:ext cx="10963657" cy="1352245"/>
          </a:xfrm>
        </p:spPr>
        <p:txBody>
          <a:bodyPr anchor="b">
            <a:normAutofit/>
          </a:bodyPr>
          <a:lstStyle/>
          <a:p>
            <a:r>
              <a:rPr lang="en-US" dirty="0"/>
              <a:t>Reports</a:t>
            </a:r>
          </a:p>
        </p:txBody>
      </p:sp>
      <p:pic>
        <p:nvPicPr>
          <p:cNvPr id="4" name="Picture 3">
            <a:extLst>
              <a:ext uri="{FF2B5EF4-FFF2-40B4-BE49-F238E27FC236}">
                <a16:creationId xmlns:a16="http://schemas.microsoft.com/office/drawing/2014/main" id="{7F50D4E2-2D97-EA13-93B0-E4C1289678B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31875" b="17373"/>
          <a:stretch>
            <a:fillRect/>
          </a:stretch>
        </p:blipFill>
        <p:spPr>
          <a:xfrm>
            <a:off x="20" y="10"/>
            <a:ext cx="12191980" cy="4114790"/>
          </a:xfrm>
          <a:prstGeom prst="rect">
            <a:avLst/>
          </a:prstGeom>
          <a:noFill/>
        </p:spPr>
      </p:pic>
    </p:spTree>
    <p:extLst>
      <p:ext uri="{BB962C8B-B14F-4D97-AF65-F5344CB8AC3E}">
        <p14:creationId xmlns:p14="http://schemas.microsoft.com/office/powerpoint/2010/main" val="225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98D1D-F243-F5B1-B96D-0F47905CA083}"/>
              </a:ext>
            </a:extLst>
          </p:cNvPr>
          <p:cNvSpPr>
            <a:spLocks noGrp="1"/>
          </p:cNvSpPr>
          <p:nvPr>
            <p:ph type="title"/>
          </p:nvPr>
        </p:nvSpPr>
        <p:spPr>
          <a:xfrm>
            <a:off x="612646" y="3886200"/>
            <a:ext cx="3044954" cy="2245126"/>
          </a:xfrm>
        </p:spPr>
        <p:txBody>
          <a:bodyPr anchor="b">
            <a:normAutofit/>
          </a:bodyPr>
          <a:lstStyle/>
          <a:p>
            <a:r>
              <a:rPr lang="en-US" sz="4200" dirty="0"/>
              <a:t>Supply Inventory Report</a:t>
            </a:r>
          </a:p>
        </p:txBody>
      </p:sp>
      <p:pic>
        <p:nvPicPr>
          <p:cNvPr id="6" name="Picture 5">
            <a:extLst>
              <a:ext uri="{FF2B5EF4-FFF2-40B4-BE49-F238E27FC236}">
                <a16:creationId xmlns:a16="http://schemas.microsoft.com/office/drawing/2014/main" id="{8C731FCE-1DE8-2465-B991-CFFA0260764F}"/>
              </a:ext>
            </a:extLst>
          </p:cNvPr>
          <p:cNvPicPr>
            <a:picLocks noChangeAspect="1"/>
          </p:cNvPicPr>
          <p:nvPr/>
        </p:nvPicPr>
        <p:blipFill>
          <a:blip r:embed="rId3"/>
          <a:stretch>
            <a:fillRect/>
          </a:stretch>
        </p:blipFill>
        <p:spPr>
          <a:xfrm>
            <a:off x="-1" y="136706"/>
            <a:ext cx="12192000" cy="3169918"/>
          </a:xfrm>
          <a:prstGeom prst="rect">
            <a:avLst/>
          </a:prstGeom>
          <a:noFill/>
        </p:spPr>
      </p:pic>
      <p:sp>
        <p:nvSpPr>
          <p:cNvPr id="3" name="Content Placeholder 2">
            <a:extLst>
              <a:ext uri="{FF2B5EF4-FFF2-40B4-BE49-F238E27FC236}">
                <a16:creationId xmlns:a16="http://schemas.microsoft.com/office/drawing/2014/main" id="{4442663B-ADFC-0045-E4DE-9349600C30A3}"/>
              </a:ext>
            </a:extLst>
          </p:cNvPr>
          <p:cNvSpPr>
            <a:spLocks noGrp="1"/>
          </p:cNvSpPr>
          <p:nvPr>
            <p:ph sz="quarter" idx="14"/>
          </p:nvPr>
        </p:nvSpPr>
        <p:spPr>
          <a:xfrm>
            <a:off x="4267200" y="3551378"/>
            <a:ext cx="7315199" cy="3078022"/>
          </a:xfrm>
        </p:spPr>
        <p:txBody>
          <a:bodyPr>
            <a:normAutofit/>
          </a:bodyPr>
          <a:lstStyle/>
          <a:p>
            <a:pPr>
              <a:lnSpc>
                <a:spcPct val="90000"/>
              </a:lnSpc>
            </a:pPr>
            <a:r>
              <a:rPr lang="en-US" b="1" dirty="0"/>
              <a:t>Bacchus Winery questions:</a:t>
            </a:r>
          </a:p>
          <a:p>
            <a:pPr>
              <a:lnSpc>
                <a:spcPct val="90000"/>
              </a:lnSpc>
            </a:pPr>
            <a:r>
              <a:rPr lang="en-US" dirty="0"/>
              <a:t>Which Supplies are approaching or have reached the point when they need reordered?</a:t>
            </a:r>
          </a:p>
          <a:p>
            <a:pPr>
              <a:lnSpc>
                <a:spcPct val="90000"/>
              </a:lnSpc>
            </a:pPr>
            <a:r>
              <a:rPr lang="en-US" b="1" dirty="0"/>
              <a:t>Report Provides:</a:t>
            </a:r>
          </a:p>
          <a:p>
            <a:pPr marL="285750" indent="-285750">
              <a:lnSpc>
                <a:spcPct val="90000"/>
              </a:lnSpc>
              <a:buFont typeface="Arial" panose="020B0604020202020204" pitchFamily="34" charset="0"/>
              <a:buChar char="•"/>
            </a:pPr>
            <a:r>
              <a:rPr lang="en-US" dirty="0"/>
              <a:t>Current Quantity On Hand</a:t>
            </a:r>
          </a:p>
          <a:p>
            <a:pPr marL="285750" indent="-285750">
              <a:lnSpc>
                <a:spcPct val="90000"/>
              </a:lnSpc>
              <a:buFont typeface="Arial" panose="020B0604020202020204" pitchFamily="34" charset="0"/>
              <a:buChar char="•"/>
            </a:pPr>
            <a:r>
              <a:rPr lang="en-US" dirty="0"/>
              <a:t>Reorder level</a:t>
            </a:r>
          </a:p>
          <a:p>
            <a:pPr marL="285750" indent="-285750">
              <a:lnSpc>
                <a:spcPct val="90000"/>
              </a:lnSpc>
              <a:buFont typeface="Arial" panose="020B0604020202020204" pitchFamily="34" charset="0"/>
              <a:buChar char="•"/>
            </a:pPr>
            <a:r>
              <a:rPr lang="en-US" dirty="0"/>
              <a:t>Units Above </a:t>
            </a:r>
            <a:r>
              <a:rPr lang="en-US" b="1" dirty="0"/>
              <a:t>OR </a:t>
            </a:r>
            <a:r>
              <a:rPr lang="en-US" dirty="0"/>
              <a:t>below the reorder level</a:t>
            </a:r>
          </a:p>
          <a:p>
            <a:pPr marL="285750" indent="-285750">
              <a:lnSpc>
                <a:spcPct val="90000"/>
              </a:lnSpc>
              <a:buFont typeface="Arial" panose="020B0604020202020204" pitchFamily="34" charset="0"/>
              <a:buChar char="•"/>
            </a:pPr>
            <a:r>
              <a:rPr lang="en-US" dirty="0"/>
              <a:t>Clear STATUS flag identifying supplies that need reordered</a:t>
            </a:r>
          </a:p>
          <a:p>
            <a:pPr>
              <a:lnSpc>
                <a:spcPct val="90000"/>
              </a:lnSpc>
            </a:pPr>
            <a:r>
              <a:rPr lang="en-US" dirty="0"/>
              <a:t>This helps Bacchus Winery identify low inventory and take action before supplies affect wine production</a:t>
            </a:r>
          </a:p>
        </p:txBody>
      </p:sp>
    </p:spTree>
    <p:extLst>
      <p:ext uri="{BB962C8B-B14F-4D97-AF65-F5344CB8AC3E}">
        <p14:creationId xmlns:p14="http://schemas.microsoft.com/office/powerpoint/2010/main" val="2804246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92B2E2A-1453-861F-0436-EDEBF93AEDBB}"/>
              </a:ext>
            </a:extLst>
          </p:cNvPr>
          <p:cNvSpPr>
            <a:spLocks noGrp="1"/>
          </p:cNvSpPr>
          <p:nvPr>
            <p:ph type="title"/>
          </p:nvPr>
        </p:nvSpPr>
        <p:spPr>
          <a:xfrm>
            <a:off x="513080" y="381000"/>
            <a:ext cx="3886200" cy="2245126"/>
          </a:xfrm>
        </p:spPr>
        <p:txBody>
          <a:bodyPr/>
          <a:lstStyle/>
          <a:p>
            <a:r>
              <a:rPr lang="en-US" sz="3600" dirty="0"/>
              <a:t>Supplier Delivery </a:t>
            </a:r>
            <a:r>
              <a:rPr lang="en-US" sz="4000" dirty="0"/>
              <a:t>Performance</a:t>
            </a:r>
            <a:r>
              <a:rPr lang="en-US" sz="3600" dirty="0"/>
              <a:t> Report</a:t>
            </a:r>
          </a:p>
        </p:txBody>
      </p:sp>
      <p:pic>
        <p:nvPicPr>
          <p:cNvPr id="5" name="Picture 4">
            <a:extLst>
              <a:ext uri="{FF2B5EF4-FFF2-40B4-BE49-F238E27FC236}">
                <a16:creationId xmlns:a16="http://schemas.microsoft.com/office/drawing/2014/main" id="{6C941D07-2415-16D8-AF7F-31AE59798F53}"/>
              </a:ext>
            </a:extLst>
          </p:cNvPr>
          <p:cNvPicPr>
            <a:picLocks noChangeAspect="1"/>
          </p:cNvPicPr>
          <p:nvPr/>
        </p:nvPicPr>
        <p:blipFill>
          <a:blip r:embed="rId3"/>
          <a:stretch>
            <a:fillRect/>
          </a:stretch>
        </p:blipFill>
        <p:spPr>
          <a:xfrm>
            <a:off x="513080" y="3247028"/>
            <a:ext cx="11018661" cy="3443331"/>
          </a:xfrm>
          <a:prstGeom prst="rect">
            <a:avLst/>
          </a:prstGeom>
          <a:noFill/>
        </p:spPr>
      </p:pic>
      <p:sp>
        <p:nvSpPr>
          <p:cNvPr id="3" name="Content Placeholder 2">
            <a:extLst>
              <a:ext uri="{FF2B5EF4-FFF2-40B4-BE49-F238E27FC236}">
                <a16:creationId xmlns:a16="http://schemas.microsoft.com/office/drawing/2014/main" id="{B09A1ED4-63E2-A656-91C4-72EFDB7E24FC}"/>
              </a:ext>
            </a:extLst>
          </p:cNvPr>
          <p:cNvSpPr>
            <a:spLocks noGrp="1"/>
          </p:cNvSpPr>
          <p:nvPr>
            <p:ph sz="quarter" idx="14"/>
          </p:nvPr>
        </p:nvSpPr>
        <p:spPr>
          <a:xfrm>
            <a:off x="4648200" y="152400"/>
            <a:ext cx="7315199" cy="2895600"/>
          </a:xfrm>
        </p:spPr>
        <p:txBody>
          <a:bodyPr>
            <a:normAutofit lnSpcReduction="10000"/>
          </a:bodyPr>
          <a:lstStyle/>
          <a:p>
            <a:pPr>
              <a:lnSpc>
                <a:spcPct val="90000"/>
              </a:lnSpc>
            </a:pPr>
            <a:r>
              <a:rPr lang="en-US" b="1" dirty="0"/>
              <a:t>Bacchus Winery questions:</a:t>
            </a:r>
          </a:p>
          <a:p>
            <a:pPr>
              <a:lnSpc>
                <a:spcPct val="90000"/>
              </a:lnSpc>
            </a:pPr>
            <a:r>
              <a:rPr lang="en-US" dirty="0"/>
              <a:t>Are suppliers delivering on time, and how large is the gap between the expected and actual delivery dates?</a:t>
            </a:r>
          </a:p>
          <a:p>
            <a:pPr>
              <a:lnSpc>
                <a:spcPct val="90000"/>
              </a:lnSpc>
            </a:pPr>
            <a:r>
              <a:rPr lang="en-US" b="1" dirty="0"/>
              <a:t>Report Provides:</a:t>
            </a:r>
          </a:p>
          <a:p>
            <a:pPr marL="285750" indent="-285750">
              <a:lnSpc>
                <a:spcPct val="90000"/>
              </a:lnSpc>
              <a:buFont typeface="Arial" panose="020B0604020202020204" pitchFamily="34" charset="0"/>
              <a:buChar char="•"/>
            </a:pPr>
            <a:r>
              <a:rPr lang="en-US" dirty="0"/>
              <a:t>Supplier and purchase order</a:t>
            </a:r>
          </a:p>
          <a:p>
            <a:pPr marL="285750" indent="-285750">
              <a:lnSpc>
                <a:spcPct val="90000"/>
              </a:lnSpc>
              <a:buFont typeface="Arial" panose="020B0604020202020204" pitchFamily="34" charset="0"/>
              <a:buChar char="•"/>
            </a:pPr>
            <a:r>
              <a:rPr lang="en-US" dirty="0"/>
              <a:t>Expected vs actual delivery date</a:t>
            </a:r>
          </a:p>
          <a:p>
            <a:pPr marL="285750" indent="-285750">
              <a:lnSpc>
                <a:spcPct val="90000"/>
              </a:lnSpc>
              <a:buFont typeface="Arial" panose="020B0604020202020204" pitchFamily="34" charset="0"/>
              <a:buChar char="•"/>
            </a:pPr>
            <a:r>
              <a:rPr lang="en-US" dirty="0"/>
              <a:t>Number of days late</a:t>
            </a:r>
          </a:p>
          <a:p>
            <a:pPr marL="285750" indent="-285750">
              <a:lnSpc>
                <a:spcPct val="90000"/>
              </a:lnSpc>
              <a:buFont typeface="Arial" panose="020B0604020202020204" pitchFamily="34" charset="0"/>
              <a:buChar char="•"/>
            </a:pPr>
            <a:r>
              <a:rPr lang="en-US" dirty="0"/>
              <a:t>Delivery status: </a:t>
            </a:r>
            <a:r>
              <a:rPr lang="en-US" b="1" dirty="0"/>
              <a:t>ON TIME</a:t>
            </a:r>
            <a:r>
              <a:rPr lang="en-US" dirty="0"/>
              <a:t>, </a:t>
            </a:r>
            <a:r>
              <a:rPr lang="en-US" b="1" dirty="0"/>
              <a:t>LATE</a:t>
            </a:r>
            <a:r>
              <a:rPr lang="en-US" dirty="0"/>
              <a:t>, or </a:t>
            </a:r>
            <a:r>
              <a:rPr lang="en-US" b="1" dirty="0"/>
              <a:t>NOT DELIVERED</a:t>
            </a:r>
          </a:p>
          <a:p>
            <a:pPr>
              <a:lnSpc>
                <a:spcPct val="90000"/>
              </a:lnSpc>
            </a:pPr>
            <a:r>
              <a:rPr lang="en-US" dirty="0"/>
              <a:t>This helps Bacchus Winery management </a:t>
            </a:r>
            <a:r>
              <a:rPr lang="en-US" dirty="0" err="1"/>
              <a:t>idenfity</a:t>
            </a:r>
            <a:r>
              <a:rPr lang="en-US" dirty="0"/>
              <a:t> suppliers with recurring delivery problems that could affect winery operations</a:t>
            </a:r>
          </a:p>
          <a:p>
            <a:pPr>
              <a:lnSpc>
                <a:spcPct val="90000"/>
              </a:lnSpc>
            </a:pPr>
            <a:endParaRPr lang="en-US" dirty="0"/>
          </a:p>
        </p:txBody>
      </p:sp>
    </p:spTree>
    <p:extLst>
      <p:ext uri="{BB962C8B-B14F-4D97-AF65-F5344CB8AC3E}">
        <p14:creationId xmlns:p14="http://schemas.microsoft.com/office/powerpoint/2010/main" val="123543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7AF2C-2730-EB7B-2792-8E4F140BE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F4790-A037-CAE8-1360-8921C49EA243}"/>
              </a:ext>
            </a:extLst>
          </p:cNvPr>
          <p:cNvSpPr>
            <a:spLocks noGrp="1"/>
          </p:cNvSpPr>
          <p:nvPr>
            <p:ph type="title"/>
          </p:nvPr>
        </p:nvSpPr>
        <p:spPr>
          <a:xfrm>
            <a:off x="6095999" y="685800"/>
            <a:ext cx="5480304" cy="1818050"/>
          </a:xfrm>
        </p:spPr>
        <p:txBody>
          <a:bodyPr anchor="t">
            <a:normAutofit/>
          </a:bodyPr>
          <a:lstStyle/>
          <a:p>
            <a:r>
              <a:rPr lang="en-US" sz="4300" dirty="0"/>
              <a:t>Wine distribution and Sales Report</a:t>
            </a:r>
          </a:p>
        </p:txBody>
      </p:sp>
      <p:pic>
        <p:nvPicPr>
          <p:cNvPr id="5" name="Picture 4">
            <a:extLst>
              <a:ext uri="{FF2B5EF4-FFF2-40B4-BE49-F238E27FC236}">
                <a16:creationId xmlns:a16="http://schemas.microsoft.com/office/drawing/2014/main" id="{8A7A80EA-5D26-60DC-C84A-C84C93F82F41}"/>
              </a:ext>
            </a:extLst>
          </p:cNvPr>
          <p:cNvPicPr>
            <a:picLocks noChangeAspect="1"/>
          </p:cNvPicPr>
          <p:nvPr/>
        </p:nvPicPr>
        <p:blipFill>
          <a:blip r:embed="rId3"/>
          <a:srcRect r="167"/>
          <a:stretch>
            <a:fillRect/>
          </a:stretch>
        </p:blipFill>
        <p:spPr>
          <a:xfrm>
            <a:off x="20" y="10"/>
            <a:ext cx="5477236" cy="6857990"/>
          </a:xfrm>
          <a:prstGeom prst="rect">
            <a:avLst/>
          </a:prstGeom>
          <a:noFill/>
        </p:spPr>
      </p:pic>
      <p:sp>
        <p:nvSpPr>
          <p:cNvPr id="3" name="Content Placeholder 2">
            <a:extLst>
              <a:ext uri="{FF2B5EF4-FFF2-40B4-BE49-F238E27FC236}">
                <a16:creationId xmlns:a16="http://schemas.microsoft.com/office/drawing/2014/main" id="{7B3CBE52-B5E8-A649-35C5-F73B2A16B3F9}"/>
              </a:ext>
            </a:extLst>
          </p:cNvPr>
          <p:cNvSpPr>
            <a:spLocks noGrp="1"/>
          </p:cNvSpPr>
          <p:nvPr>
            <p:ph sz="quarter" idx="13"/>
          </p:nvPr>
        </p:nvSpPr>
        <p:spPr>
          <a:xfrm>
            <a:off x="6096000" y="3189770"/>
            <a:ext cx="5480304" cy="2982429"/>
          </a:xfrm>
        </p:spPr>
        <p:txBody>
          <a:bodyPr anchor="t">
            <a:normAutofit fontScale="92500"/>
          </a:bodyPr>
          <a:lstStyle/>
          <a:p>
            <a:pPr>
              <a:lnSpc>
                <a:spcPct val="140000"/>
              </a:lnSpc>
            </a:pPr>
            <a:r>
              <a:rPr lang="en-US" sz="1000" b="1" dirty="0"/>
              <a:t>Bacchus Winery questions:</a:t>
            </a:r>
          </a:p>
          <a:p>
            <a:pPr>
              <a:lnSpc>
                <a:spcPct val="140000"/>
              </a:lnSpc>
            </a:pPr>
            <a:r>
              <a:rPr lang="en-US" sz="1000" dirty="0"/>
              <a:t>Which distributors carry each wine? How are the </a:t>
            </a:r>
            <a:r>
              <a:rPr lang="en-US" sz="1000" dirty="0" err="1"/>
              <a:t>wiens</a:t>
            </a:r>
            <a:r>
              <a:rPr lang="en-US" sz="1000" dirty="0"/>
              <a:t> selling? Are any wines underperforming?</a:t>
            </a:r>
          </a:p>
          <a:p>
            <a:pPr>
              <a:lnSpc>
                <a:spcPct val="140000"/>
              </a:lnSpc>
            </a:pPr>
            <a:r>
              <a:rPr lang="en-US" sz="1000" b="1" dirty="0"/>
              <a:t>Report Provides:</a:t>
            </a:r>
          </a:p>
          <a:p>
            <a:pPr marL="171450" lvl="0" indent="-171450">
              <a:buFont typeface="Arial" panose="020B0604020202020204" pitchFamily="34" charset="0"/>
              <a:buChar char="•"/>
            </a:pPr>
            <a:r>
              <a:rPr lang="en-US" sz="1000" dirty="0"/>
              <a:t>Wine and distributor relationships </a:t>
            </a:r>
          </a:p>
          <a:p>
            <a:pPr marL="171450" lvl="0" indent="-171450">
              <a:buFont typeface="Arial" panose="020B0604020202020204" pitchFamily="34" charset="0"/>
              <a:buChar char="•"/>
            </a:pPr>
            <a:r>
              <a:rPr lang="en-US" sz="1000" dirty="0"/>
              <a:t>Units sold by each distributor for each wine </a:t>
            </a:r>
          </a:p>
          <a:p>
            <a:pPr marL="171450" lvl="0" indent="-171450">
              <a:buFont typeface="Arial" panose="020B0604020202020204" pitchFamily="34" charset="0"/>
              <a:buChar char="•"/>
            </a:pPr>
            <a:r>
              <a:rPr lang="en-US" sz="1000" dirty="0"/>
              <a:t>Zero-sale distributor/wine combinations </a:t>
            </a:r>
          </a:p>
          <a:p>
            <a:pPr marL="171450" lvl="0" indent="-171450">
              <a:buFont typeface="Arial" panose="020B0604020202020204" pitchFamily="34" charset="0"/>
              <a:buChar char="•"/>
            </a:pPr>
            <a:r>
              <a:rPr lang="en-US" sz="1000" dirty="0"/>
              <a:t>Total units sold for each wine</a:t>
            </a:r>
          </a:p>
          <a:p>
            <a:pPr>
              <a:lnSpc>
                <a:spcPct val="140000"/>
              </a:lnSpc>
            </a:pPr>
            <a:r>
              <a:rPr lang="en-US" sz="1000" dirty="0"/>
              <a:t>Helps management compare wine performance and identify products or distributor relationships that may need attention.</a:t>
            </a:r>
          </a:p>
        </p:txBody>
      </p:sp>
    </p:spTree>
    <p:extLst>
      <p:ext uri="{BB962C8B-B14F-4D97-AF65-F5344CB8AC3E}">
        <p14:creationId xmlns:p14="http://schemas.microsoft.com/office/powerpoint/2010/main" val="879927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5CDE-433B-EECE-D769-C53C4349EAD9}"/>
              </a:ext>
            </a:extLst>
          </p:cNvPr>
          <p:cNvSpPr>
            <a:spLocks noGrp="1"/>
          </p:cNvSpPr>
          <p:nvPr>
            <p:ph type="title"/>
          </p:nvPr>
        </p:nvSpPr>
        <p:spPr>
          <a:xfrm>
            <a:off x="612646" y="3886200"/>
            <a:ext cx="3044954" cy="2245126"/>
          </a:xfrm>
        </p:spPr>
        <p:txBody>
          <a:bodyPr anchor="b">
            <a:normAutofit/>
          </a:bodyPr>
          <a:lstStyle/>
          <a:p>
            <a:r>
              <a:rPr lang="en-US" sz="3800"/>
              <a:t>Employee Quarterly Hours Report</a:t>
            </a:r>
          </a:p>
        </p:txBody>
      </p:sp>
      <p:pic>
        <p:nvPicPr>
          <p:cNvPr id="8" name="Picture 7">
            <a:extLst>
              <a:ext uri="{FF2B5EF4-FFF2-40B4-BE49-F238E27FC236}">
                <a16:creationId xmlns:a16="http://schemas.microsoft.com/office/drawing/2014/main" id="{EB787DA4-F5BC-4C19-ECCB-C21CEBBB1EE8}"/>
              </a:ext>
            </a:extLst>
          </p:cNvPr>
          <p:cNvPicPr>
            <a:picLocks noChangeAspect="1"/>
          </p:cNvPicPr>
          <p:nvPr/>
        </p:nvPicPr>
        <p:blipFill>
          <a:blip r:embed="rId3"/>
          <a:stretch>
            <a:fillRect/>
          </a:stretch>
        </p:blipFill>
        <p:spPr>
          <a:xfrm>
            <a:off x="1624141" y="0"/>
            <a:ext cx="8943715" cy="3443331"/>
          </a:xfrm>
          <a:prstGeom prst="rect">
            <a:avLst/>
          </a:prstGeom>
          <a:noFill/>
        </p:spPr>
      </p:pic>
      <p:sp>
        <p:nvSpPr>
          <p:cNvPr id="4" name="Content Placeholder 3">
            <a:extLst>
              <a:ext uri="{FF2B5EF4-FFF2-40B4-BE49-F238E27FC236}">
                <a16:creationId xmlns:a16="http://schemas.microsoft.com/office/drawing/2014/main" id="{9E80D995-7218-EDCD-E64D-8C0465717FFA}"/>
              </a:ext>
            </a:extLst>
          </p:cNvPr>
          <p:cNvSpPr>
            <a:spLocks noGrp="1"/>
          </p:cNvSpPr>
          <p:nvPr>
            <p:ph sz="quarter" idx="14"/>
          </p:nvPr>
        </p:nvSpPr>
        <p:spPr>
          <a:xfrm>
            <a:off x="4267200" y="3886200"/>
            <a:ext cx="7315199" cy="2245127"/>
          </a:xfrm>
        </p:spPr>
        <p:txBody>
          <a:bodyPr>
            <a:normAutofit/>
          </a:bodyPr>
          <a:lstStyle/>
          <a:p>
            <a:pPr>
              <a:lnSpc>
                <a:spcPct val="90000"/>
              </a:lnSpc>
            </a:pPr>
            <a:r>
              <a:rPr lang="en-US" sz="1100" b="1"/>
              <a:t>Bacchus Winery questions:</a:t>
            </a:r>
          </a:p>
          <a:p>
            <a:pPr>
              <a:lnSpc>
                <a:spcPct val="90000"/>
              </a:lnSpc>
            </a:pPr>
            <a:r>
              <a:rPr lang="en-US" sz="1100"/>
              <a:t>How many hours did each employee work during the previous four quarters?</a:t>
            </a:r>
          </a:p>
          <a:p>
            <a:pPr>
              <a:lnSpc>
                <a:spcPct val="90000"/>
              </a:lnSpc>
            </a:pPr>
            <a:r>
              <a:rPr lang="en-US" sz="1100" b="1"/>
              <a:t>Report Provides:</a:t>
            </a:r>
          </a:p>
          <a:p>
            <a:pPr marL="171450" lvl="0" indent="-171450">
              <a:lnSpc>
                <a:spcPct val="90000"/>
              </a:lnSpc>
              <a:buFont typeface="Arial" panose="020B0604020202020204" pitchFamily="34" charset="0"/>
              <a:buChar char="•"/>
            </a:pPr>
            <a:r>
              <a:rPr lang="en-US" sz="1100"/>
              <a:t>Employee name</a:t>
            </a:r>
          </a:p>
          <a:p>
            <a:pPr marL="171450" lvl="0" indent="-171450">
              <a:lnSpc>
                <a:spcPct val="90000"/>
              </a:lnSpc>
              <a:buFont typeface="Arial" panose="020B0604020202020204" pitchFamily="34" charset="0"/>
              <a:buChar char="•"/>
            </a:pPr>
            <a:r>
              <a:rPr lang="en-US" sz="1100"/>
              <a:t>Year and quarter</a:t>
            </a:r>
          </a:p>
          <a:p>
            <a:pPr marL="171450" lvl="0" indent="-171450">
              <a:lnSpc>
                <a:spcPct val="90000"/>
              </a:lnSpc>
              <a:buFont typeface="Arial" panose="020B0604020202020204" pitchFamily="34" charset="0"/>
              <a:buChar char="•"/>
            </a:pPr>
            <a:r>
              <a:rPr lang="en-US" sz="1100"/>
              <a:t>Total Hours Worked</a:t>
            </a:r>
          </a:p>
          <a:p>
            <a:pPr marL="171450" lvl="0" indent="-171450">
              <a:lnSpc>
                <a:spcPct val="90000"/>
              </a:lnSpc>
              <a:buFont typeface="Arial" panose="020B0604020202020204" pitchFamily="34" charset="0"/>
              <a:buChar char="•"/>
            </a:pPr>
            <a:r>
              <a:rPr lang="en-US" sz="1100"/>
              <a:t>Comparison of employee hours across quarters</a:t>
            </a:r>
          </a:p>
          <a:p>
            <a:pPr>
              <a:lnSpc>
                <a:spcPct val="90000"/>
              </a:lnSpc>
            </a:pPr>
            <a:r>
              <a:rPr lang="en-US" sz="1100"/>
              <a:t>Helps management identify labor trends and changes in employee workload over time.</a:t>
            </a:r>
          </a:p>
          <a:p>
            <a:pPr>
              <a:lnSpc>
                <a:spcPct val="90000"/>
              </a:lnSpc>
            </a:pPr>
            <a:endParaRPr lang="en-US" sz="1100"/>
          </a:p>
        </p:txBody>
      </p:sp>
    </p:spTree>
    <p:extLst>
      <p:ext uri="{BB962C8B-B14F-4D97-AF65-F5344CB8AC3E}">
        <p14:creationId xmlns:p14="http://schemas.microsoft.com/office/powerpoint/2010/main" val="584448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2F49-FB79-A5C5-1F19-BF11DF5C45A2}"/>
              </a:ext>
            </a:extLst>
          </p:cNvPr>
          <p:cNvSpPr>
            <a:spLocks noGrp="1"/>
          </p:cNvSpPr>
          <p:nvPr>
            <p:ph type="title"/>
          </p:nvPr>
        </p:nvSpPr>
        <p:spPr>
          <a:xfrm>
            <a:off x="612648" y="4800600"/>
            <a:ext cx="10058400" cy="1355271"/>
          </a:xfrm>
        </p:spPr>
        <p:txBody>
          <a:bodyPr anchor="ctr">
            <a:normAutofit/>
          </a:bodyPr>
          <a:lstStyle/>
          <a:p>
            <a:r>
              <a:rPr lang="en-US" sz="4800" dirty="0"/>
              <a:t>Assumptions</a:t>
            </a:r>
            <a:r>
              <a:rPr lang="en-US" sz="3200" dirty="0"/>
              <a:t> &amp; Design </a:t>
            </a:r>
            <a:r>
              <a:rPr lang="en-US" sz="3600" dirty="0"/>
              <a:t>Decisions</a:t>
            </a:r>
            <a:r>
              <a:rPr lang="en-US" sz="3200" dirty="0"/>
              <a:t>	</a:t>
            </a:r>
          </a:p>
        </p:txBody>
      </p:sp>
      <p:graphicFrame>
        <p:nvGraphicFramePr>
          <p:cNvPr id="7" name="Content Placeholder 3">
            <a:extLst>
              <a:ext uri="{FF2B5EF4-FFF2-40B4-BE49-F238E27FC236}">
                <a16:creationId xmlns:a16="http://schemas.microsoft.com/office/drawing/2014/main" id="{527EA29F-A406-6DFC-8FB7-0BAFB0083CBC}"/>
              </a:ext>
            </a:extLst>
          </p:cNvPr>
          <p:cNvGraphicFramePr>
            <a:graphicFrameLocks noGrp="1"/>
          </p:cNvGraphicFramePr>
          <p:nvPr>
            <p:ph sz="quarter" idx="13"/>
            <p:extLst>
              <p:ext uri="{D42A27DB-BD31-4B8C-83A1-F6EECF244321}">
                <p14:modId xmlns:p14="http://schemas.microsoft.com/office/powerpoint/2010/main" val="2449218090"/>
              </p:ext>
            </p:extLst>
          </p:nvPr>
        </p:nvGraphicFramePr>
        <p:xfrm>
          <a:off x="612647" y="1600200"/>
          <a:ext cx="10055353" cy="3657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94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CB539-1F82-760C-B7FB-99487B13A07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2D558AE-06B8-7594-07C0-D703EC0A79B7}"/>
              </a:ext>
            </a:extLst>
          </p:cNvPr>
          <p:cNvSpPr>
            <a:spLocks noGrp="1"/>
          </p:cNvSpPr>
          <p:nvPr>
            <p:ph idx="1"/>
          </p:nvPr>
        </p:nvSpPr>
        <p:spPr/>
        <p:txBody>
          <a:bodyPr/>
          <a:lstStyle/>
          <a:p>
            <a:pPr marL="285750" lvl="0" indent="-285750">
              <a:buFont typeface="Arial" panose="020B0604020202020204" pitchFamily="34" charset="0"/>
              <a:buChar char="•"/>
            </a:pPr>
            <a:r>
              <a:rPr lang="en-US" dirty="0"/>
              <a:t>Created a normalized relational database supporting key winery operations </a:t>
            </a:r>
          </a:p>
          <a:p>
            <a:pPr marL="285750" lvl="0" indent="-285750">
              <a:buFont typeface="Arial" panose="020B0604020202020204" pitchFamily="34" charset="0"/>
              <a:buChar char="•"/>
            </a:pPr>
            <a:r>
              <a:rPr lang="en-US" dirty="0"/>
              <a:t>Connected purchasing, inventory, distribution, sales, and employee data </a:t>
            </a:r>
          </a:p>
          <a:p>
            <a:pPr marL="285750" lvl="0" indent="-285750">
              <a:buFont typeface="Arial" panose="020B0604020202020204" pitchFamily="34" charset="0"/>
              <a:buChar char="•"/>
            </a:pPr>
            <a:r>
              <a:rPr lang="en-US" dirty="0"/>
              <a:t>Developed reports focused on </a:t>
            </a:r>
            <a:r>
              <a:rPr lang="en-US" b="1" dirty="0"/>
              <a:t>actionable business information</a:t>
            </a:r>
            <a:r>
              <a:rPr lang="en-US" dirty="0"/>
              <a:t> </a:t>
            </a:r>
          </a:p>
          <a:p>
            <a:pPr marL="285750" lvl="0" indent="-285750">
              <a:buFont typeface="Arial" panose="020B0604020202020204" pitchFamily="34" charset="0"/>
              <a:buChar char="•"/>
            </a:pPr>
            <a:r>
              <a:rPr lang="en-US" dirty="0"/>
              <a:t>Reports help management: </a:t>
            </a:r>
          </a:p>
          <a:p>
            <a:pPr marL="514350" lvl="1" indent="-285750">
              <a:buFont typeface="Arial" panose="020B0604020202020204" pitchFamily="34" charset="0"/>
              <a:buChar char="•"/>
            </a:pPr>
            <a:r>
              <a:rPr lang="en-US" dirty="0"/>
              <a:t>Identify supplies that need reordered </a:t>
            </a:r>
          </a:p>
          <a:p>
            <a:pPr marL="514350" lvl="1" indent="-285750">
              <a:buFont typeface="Arial" panose="020B0604020202020204" pitchFamily="34" charset="0"/>
              <a:buChar char="•"/>
            </a:pPr>
            <a:r>
              <a:rPr lang="en-US" dirty="0"/>
              <a:t>Evaluate supplier delivery performance </a:t>
            </a:r>
          </a:p>
          <a:p>
            <a:pPr marL="514350" lvl="1" indent="-285750">
              <a:buFont typeface="Arial" panose="020B0604020202020204" pitchFamily="34" charset="0"/>
              <a:buChar char="•"/>
            </a:pPr>
            <a:r>
              <a:rPr lang="en-US" dirty="0"/>
              <a:t>Compare wine and distributor sales </a:t>
            </a:r>
          </a:p>
          <a:p>
            <a:pPr marL="514350" lvl="1" indent="-285750">
              <a:buFont typeface="Arial" panose="020B0604020202020204" pitchFamily="34" charset="0"/>
              <a:buChar char="•"/>
            </a:pPr>
            <a:r>
              <a:rPr lang="en-US" dirty="0"/>
              <a:t>Review employee labor trends </a:t>
            </a:r>
          </a:p>
          <a:p>
            <a:pPr marL="285750" lvl="0" indent="-285750">
              <a:buFont typeface="Arial" panose="020B0604020202020204" pitchFamily="34" charset="0"/>
              <a:buChar char="•"/>
            </a:pPr>
            <a:r>
              <a:rPr lang="en-US" dirty="0"/>
              <a:t>Designed the database to support future changes without restructuring the core schema</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845864795"/>
      </p:ext>
    </p:extLst>
  </p:cSld>
  <p:clrMapOvr>
    <a:masterClrMapping/>
  </p:clrMapOvr>
</p:sld>
</file>

<file path=ppt/theme/theme1.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fcaeb239-e0ad-43c4-9739-4084ddd7c62f_wac_v2" id="{21E82CDE-DB0F-446A-AB1C-C548E4C4E61C}" vid="{FC4C4127-EA88-45F9-9442-09B36E6C916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740cb5-7b9d-404d-8e4e-61a8e94ce61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44486B42B501C4C861454C50391945D" ma:contentTypeVersion="9" ma:contentTypeDescription="Create a new document." ma:contentTypeScope="" ma:versionID="41d1d6365ec3ba9fd465dc2d97f77b71">
  <xsd:schema xmlns:xsd="http://www.w3.org/2001/XMLSchema" xmlns:xs="http://www.w3.org/2001/XMLSchema" xmlns:p="http://schemas.microsoft.com/office/2006/metadata/properties" xmlns:ns3="11740cb5-7b9d-404d-8e4e-61a8e94ce612" targetNamespace="http://schemas.microsoft.com/office/2006/metadata/properties" ma:root="true" ma:fieldsID="5d23060098c15e10ea98b2236b607bd3" ns3:_="">
    <xsd:import namespace="11740cb5-7b9d-404d-8e4e-61a8e94ce61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40cb5-7b9d-404d-8e4e-61a8e94ce61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E0AE46-2EED-447A-8B24-DFD65B70D448}">
  <ds:schemaRefs>
    <ds:schemaRef ds:uri="http://schemas.microsoft.com/sharepoint/v3/contenttype/forms"/>
  </ds:schemaRefs>
</ds:datastoreItem>
</file>

<file path=customXml/itemProps2.xml><?xml version="1.0" encoding="utf-8"?>
<ds:datastoreItem xmlns:ds="http://schemas.openxmlformats.org/officeDocument/2006/customXml" ds:itemID="{EEA42C18-4C38-43BB-8CE3-C963EDA9CBBA}">
  <ds:schemaRefs>
    <ds:schemaRef ds:uri="http://schemas.microsoft.com/office/2006/documentManagement/types"/>
    <ds:schemaRef ds:uri="http://purl.org/dc/dcmitype/"/>
    <ds:schemaRef ds:uri="http://schemas.openxmlformats.org/package/2006/metadata/core-properties"/>
    <ds:schemaRef ds:uri="http://purl.org/dc/elements/1.1/"/>
    <ds:schemaRef ds:uri="http://purl.org/dc/terms/"/>
    <ds:schemaRef ds:uri="11740cb5-7b9d-404d-8e4e-61a8e94ce612"/>
    <ds:schemaRef ds:uri="http://www.w3.org/XML/1998/namespace"/>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432C5BDB-8785-4D15-9909-8EDFA6E5C2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40cb5-7b9d-404d-8e4e-61a8e94ce6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{96F5D149-12A3-4C53-BF45-593A138A1148}0f45c1b8-b519-4737-8f12-a18148944ef7-TFfcaeb239-e0ad-43c4-9739-4084ddd7c62fe496f549_win32</Template>
  <TotalTime>124</TotalTime>
  <Words>1205</Words>
  <Application>Microsoft Office PowerPoint</Application>
  <PresentationFormat>Widescreen</PresentationFormat>
  <Paragraphs>106</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Bahnschrift SemiLight</vt:lpstr>
      <vt:lpstr>Blockwork elegance</vt:lpstr>
      <vt:lpstr>Bacchus-Winery Case Study</vt:lpstr>
      <vt:lpstr>Overview </vt:lpstr>
      <vt:lpstr>Database Design</vt:lpstr>
      <vt:lpstr>Entity Relationship Diagram</vt:lpstr>
      <vt:lpstr>PowerPoint Presentation</vt:lpstr>
      <vt:lpstr>Reports</vt:lpstr>
      <vt:lpstr>Supply Inventory Report</vt:lpstr>
      <vt:lpstr>Supplier Delivery Performance Report</vt:lpstr>
      <vt:lpstr>Wine distribution and Sales Report</vt:lpstr>
      <vt:lpstr>Employee Quarterly Hours Report</vt:lpstr>
      <vt:lpstr>Assumptions &amp; Design Decisions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lane dorscher</dc:creator>
  <cp:lastModifiedBy>lane dorscher</cp:lastModifiedBy>
  <cp:revision>3</cp:revision>
  <dcterms:created xsi:type="dcterms:W3CDTF">2026-08-15T22:46:53Z</dcterms:created>
  <dcterms:modified xsi:type="dcterms:W3CDTF">2026-08-16T00:51:49Z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0x010100344486B42B501C4C861454C50391945D</vt:lpwstr>
  </property>
  <property fmtid="{D5CDD505-2E9C-101B-9397-08002B2CF9AE}" pid="3" name="MediaServiceImageTags">
    <vt:lpwstr/>
  </property>
</Properties>
</file>